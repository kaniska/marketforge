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694944"/>
          </a:xfrm>
          <a:solidFill>
            <a:srgbClr val="161B22"/>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94944"/>
          </a:xfrm>
          <a:solidFill>
            <a:srgbClr val="1F6FEB"/>
          </a:solidFill>
          <a:ln>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2286000" cy="201168"/>
          </a:xfrm>
          <a:prstGeom prst="rect">
            <a:avLst/>
          </a:prstGeom>
          <a:noFill/>
        </p:spPr>
        <p:txBody>
          <a:bodyPr wrap="square">
            <a:spAutoFit/>
          </a:bodyPr>
          <a:lstStyle/>
          <a:p>
            <a:pPr algn="l"/>
            <a:r>
              <a:rPr sz="800" b="1" i="0">
                <a:solidFill>
                  <a:srgbClr val="1F6FEB"/>
                </a:solidFill>
              </a:rPr>
              <a:t>SLIDE 1 / 2</a:t>
            </a:r>
          </a:p>
        </p:txBody>
      </p:sp>
      <p:sp>
        <p:nvSpPr>
          <p:cNvPr id="5" name="TextBox 4"/>
          <p:cNvSpPr txBox="1"/>
          <p:nvPr/>
        </p:nvSpPr>
        <p:spPr>
          <a:xfrm>
            <a:off x="182880" y="237744"/>
            <a:ext cx="7772400" cy="329184"/>
          </a:xfrm>
          <a:prstGeom prst="rect">
            <a:avLst/>
          </a:prstGeom>
          <a:noFill/>
        </p:spPr>
        <p:txBody>
          <a:bodyPr wrap="square">
            <a:spAutoFit/>
          </a:bodyPr>
          <a:lstStyle/>
          <a:p>
            <a:pPr algn="l"/>
            <a:r>
              <a:rPr sz="1900" b="1" i="0">
                <a:solidFill>
                  <a:srgbClr val="E6EDF3"/>
                </a:solidFill>
              </a:rPr>
              <a:t>Overall RL Implementation Flow</a:t>
            </a:r>
          </a:p>
        </p:txBody>
      </p:sp>
      <p:sp>
        <p:nvSpPr>
          <p:cNvPr id="6" name="TextBox 5"/>
          <p:cNvSpPr txBox="1"/>
          <p:nvPr/>
        </p:nvSpPr>
        <p:spPr>
          <a:xfrm>
            <a:off x="182880" y="502920"/>
            <a:ext cx="8686800" cy="201168"/>
          </a:xfrm>
          <a:prstGeom prst="rect">
            <a:avLst/>
          </a:prstGeom>
          <a:noFill/>
        </p:spPr>
        <p:txBody>
          <a:bodyPr wrap="square">
            <a:spAutoFit/>
          </a:bodyPr>
          <a:lstStyle/>
          <a:p>
            <a:pPr algn="l"/>
            <a:r>
              <a:rPr sz="900" b="0" i="0">
                <a:solidFill>
                  <a:srgbClr val="8B949E"/>
                </a:solidFill>
              </a:rPr>
              <a:t>How MarketForge trains an LLM to become a skilled market trader using GRPO reinforcement learning</a:t>
            </a:r>
          </a:p>
        </p:txBody>
      </p:sp>
      <p:sp>
        <p:nvSpPr>
          <p:cNvPr id="7" name="TextBox 6"/>
          <p:cNvSpPr txBox="1"/>
          <p:nvPr/>
        </p:nvSpPr>
        <p:spPr>
          <a:xfrm>
            <a:off x="9875520" y="256032"/>
            <a:ext cx="2194560" cy="237744"/>
          </a:xfrm>
          <a:prstGeom prst="rect">
            <a:avLst/>
          </a:prstGeom>
          <a:noFill/>
        </p:spPr>
        <p:txBody>
          <a:bodyPr wrap="square">
            <a:spAutoFit/>
          </a:bodyPr>
          <a:lstStyle/>
          <a:p>
            <a:pPr algn="r"/>
            <a:r>
              <a:rPr sz="850" b="0" i="0">
                <a:solidFill>
                  <a:srgbClr val="8B949E"/>
                </a:solidFill>
              </a:rPr>
              <a:t>Multi-Agent MarketForge</a:t>
            </a:r>
          </a:p>
        </p:txBody>
      </p:sp>
      <p:sp>
        <p:nvSpPr>
          <p:cNvPr id="8" name="Rectangle 7"/>
          <p:cNvSpPr/>
          <p:nvPr/>
        </p:nvSpPr>
        <p:spPr>
          <a:xfrm>
            <a:off x="164592" y="768096"/>
            <a:ext cx="6903720" cy="928115"/>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4592" y="768096"/>
            <a:ext cx="36576" cy="928115"/>
          </a:xfrm>
          <a:solidFill>
            <a:srgbClr val="1F6FEB"/>
          </a:solidFill>
          <a:ln>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859536"/>
            <a:ext cx="347472" cy="347472"/>
          </a:xfrm>
          <a:solidFill>
            <a:srgbClr val="0F2B4E"/>
          </a:solidFill>
          <a:ln w="10160">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 y="841247"/>
            <a:ext cx="347472" cy="347472"/>
          </a:xfrm>
          <a:prstGeom prst="rect">
            <a:avLst/>
          </a:prstGeom>
          <a:noFill/>
        </p:spPr>
        <p:txBody>
          <a:bodyPr wrap="square">
            <a:spAutoFit/>
          </a:bodyPr>
          <a:lstStyle/>
          <a:p>
            <a:pPr algn="ctr"/>
            <a:r>
              <a:rPr sz="1600" b="0" i="0">
                <a:solidFill>
                  <a:srgbClr val="E6EDF3"/>
                </a:solidFill>
              </a:rPr>
              <a:t>📦</a:t>
            </a:r>
          </a:p>
        </p:txBody>
      </p:sp>
      <p:sp>
        <p:nvSpPr>
          <p:cNvPr id="12" name="TextBox 11"/>
          <p:cNvSpPr txBox="1"/>
          <p:nvPr/>
        </p:nvSpPr>
        <p:spPr>
          <a:xfrm>
            <a:off x="713232" y="813816"/>
            <a:ext cx="6263640" cy="219456"/>
          </a:xfrm>
          <a:prstGeom prst="rect">
            <a:avLst/>
          </a:prstGeom>
          <a:noFill/>
        </p:spPr>
        <p:txBody>
          <a:bodyPr wrap="square">
            <a:spAutoFit/>
          </a:bodyPr>
          <a:lstStyle/>
          <a:p>
            <a:pPr algn="l"/>
            <a:r>
              <a:rPr sz="1100" b="1" i="0">
                <a:solidFill>
                  <a:srgbClr val="E6EDF3"/>
                </a:solidFill>
              </a:rPr>
              <a:t>1. Build Market Scenario Dataset</a:t>
            </a:r>
          </a:p>
        </p:txBody>
      </p:sp>
      <p:sp>
        <p:nvSpPr>
          <p:cNvPr id="13" name="TextBox 12"/>
          <p:cNvSpPr txBox="1"/>
          <p:nvPr/>
        </p:nvSpPr>
        <p:spPr>
          <a:xfrm>
            <a:off x="713232" y="1024128"/>
            <a:ext cx="6263640" cy="201168"/>
          </a:xfrm>
          <a:prstGeom prst="rect">
            <a:avLst/>
          </a:prstGeom>
          <a:noFill/>
        </p:spPr>
        <p:txBody>
          <a:bodyPr wrap="square">
            <a:spAutoFit/>
          </a:bodyPr>
          <a:lstStyle/>
          <a:p>
            <a:pPr algn="l"/>
            <a:r>
              <a:rPr sz="850" b="0" i="1">
                <a:solidFill>
                  <a:srgbClr val="8B949E"/>
                </a:solidFill>
              </a:rPr>
              <a:t>WHY:  The agent must see many different market situations to avoid memorising one pattern.</a:t>
            </a:r>
          </a:p>
        </p:txBody>
      </p:sp>
      <p:sp>
        <p:nvSpPr>
          <p:cNvPr id="14" name="TextBox 13"/>
          <p:cNvSpPr txBox="1"/>
          <p:nvPr/>
        </p:nvSpPr>
        <p:spPr>
          <a:xfrm>
            <a:off x="713232" y="1207007"/>
            <a:ext cx="6263640" cy="292608"/>
          </a:xfrm>
          <a:prstGeom prst="rect">
            <a:avLst/>
          </a:prstGeom>
          <a:noFill/>
        </p:spPr>
        <p:txBody>
          <a:bodyPr wrap="square">
            <a:spAutoFit/>
          </a:bodyPr>
          <a:lstStyle/>
          <a:p>
            <a:pPr algn="l"/>
            <a:r>
              <a:rPr sz="850" b="0" i="0">
                <a:solidFill>
                  <a:srgbClr val="C9D1D9"/>
                </a:solidFill>
              </a:rPr>
              <a:t>HOW:  The MarketForge environment is reset 256 times, each time generating a unique combination of agent role (producer / trader / speculator), commodity prices, market event, and inventory — giving the LLM a rich and varied training curriculum.</a:t>
            </a:r>
          </a:p>
        </p:txBody>
      </p:sp>
      <p:sp>
        <p:nvSpPr>
          <p:cNvPr id="15" name="Rectangle 14"/>
          <p:cNvSpPr/>
          <p:nvPr/>
        </p:nvSpPr>
        <p:spPr>
          <a:xfrm>
            <a:off x="713232" y="1499616"/>
            <a:ext cx="6172200" cy="173736"/>
          </a:xfrm>
          <a:solidFill>
            <a:srgbClr val="0F2B4E"/>
          </a:solidFill>
          <a:ln w="6350">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1513331"/>
            <a:ext cx="6080760" cy="155448"/>
          </a:xfrm>
          <a:prstGeom prst="rect">
            <a:avLst/>
          </a:prstGeom>
          <a:noFill/>
        </p:spPr>
        <p:txBody>
          <a:bodyPr wrap="square">
            <a:spAutoFit/>
          </a:bodyPr>
          <a:lstStyle/>
          <a:p>
            <a:pPr algn="l"/>
            <a:r>
              <a:rPr sz="780" b="1" i="0">
                <a:solidFill>
                  <a:srgbClr val="58A6FF"/>
                </a:solidFill>
              </a:rPr>
              <a:t>IMPACT:  Diverse prompts prevent overfitting and teach the agent to act across all market conditions.</a:t>
            </a:r>
          </a:p>
        </p:txBody>
      </p:sp>
      <p:sp>
        <p:nvSpPr>
          <p:cNvPr id="17" name="Rectangle 16"/>
          <p:cNvSpPr/>
          <p:nvPr/>
        </p:nvSpPr>
        <p:spPr>
          <a:xfrm>
            <a:off x="402336" y="1687067"/>
            <a:ext cx="36576" cy="91440"/>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4592" y="1741931"/>
            <a:ext cx="6903720" cy="928115"/>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4592" y="1741931"/>
            <a:ext cx="36576" cy="928115"/>
          </a:xfrm>
          <a:solidFill>
            <a:srgbClr val="6E40C9"/>
          </a:solidFill>
          <a:ln>
            <a:solidFill>
              <a:srgbClr val="6E40C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 y="1833372"/>
            <a:ext cx="347472" cy="347472"/>
          </a:xfrm>
          <a:solidFill>
            <a:srgbClr val="1A0F3D"/>
          </a:solidFill>
          <a:ln w="10160">
            <a:solidFill>
              <a:srgbClr val="6E40C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1815084"/>
            <a:ext cx="347472" cy="347472"/>
          </a:xfrm>
          <a:prstGeom prst="rect">
            <a:avLst/>
          </a:prstGeom>
          <a:noFill/>
        </p:spPr>
        <p:txBody>
          <a:bodyPr wrap="square">
            <a:spAutoFit/>
          </a:bodyPr>
          <a:lstStyle/>
          <a:p>
            <a:pPr algn="ctr"/>
            <a:r>
              <a:rPr sz="1600" b="0" i="0">
                <a:solidFill>
                  <a:srgbClr val="E6EDF3"/>
                </a:solidFill>
              </a:rPr>
              <a:t>🤖</a:t>
            </a:r>
          </a:p>
        </p:txBody>
      </p:sp>
      <p:sp>
        <p:nvSpPr>
          <p:cNvPr id="22" name="TextBox 21"/>
          <p:cNvSpPr txBox="1"/>
          <p:nvPr/>
        </p:nvSpPr>
        <p:spPr>
          <a:xfrm>
            <a:off x="713232" y="1787651"/>
            <a:ext cx="6263640" cy="219456"/>
          </a:xfrm>
          <a:prstGeom prst="rect">
            <a:avLst/>
          </a:prstGeom>
          <a:noFill/>
        </p:spPr>
        <p:txBody>
          <a:bodyPr wrap="square">
            <a:spAutoFit/>
          </a:bodyPr>
          <a:lstStyle/>
          <a:p>
            <a:pPr algn="l"/>
            <a:r>
              <a:rPr sz="1100" b="1" i="0">
                <a:solidFill>
                  <a:srgbClr val="E6EDF3"/>
                </a:solidFill>
              </a:rPr>
              <a:t>2. LLM Agent Reads the Market &amp; Decides</a:t>
            </a:r>
          </a:p>
        </p:txBody>
      </p:sp>
      <p:sp>
        <p:nvSpPr>
          <p:cNvPr id="23" name="TextBox 22"/>
          <p:cNvSpPr txBox="1"/>
          <p:nvPr/>
        </p:nvSpPr>
        <p:spPr>
          <a:xfrm>
            <a:off x="713232" y="1997963"/>
            <a:ext cx="6263640" cy="201168"/>
          </a:xfrm>
          <a:prstGeom prst="rect">
            <a:avLst/>
          </a:prstGeom>
          <a:noFill/>
        </p:spPr>
        <p:txBody>
          <a:bodyPr wrap="square">
            <a:spAutoFit/>
          </a:bodyPr>
          <a:lstStyle/>
          <a:p>
            <a:pPr algn="l"/>
            <a:r>
              <a:rPr sz="850" b="0" i="1">
                <a:solidFill>
                  <a:srgbClr val="8B949E"/>
                </a:solidFill>
              </a:rPr>
              <a:t>WHY:  We need a decision-maker that understands natural language descriptions of prices, events, and inventory.</a:t>
            </a:r>
          </a:p>
        </p:txBody>
      </p:sp>
      <p:sp>
        <p:nvSpPr>
          <p:cNvPr id="24" name="TextBox 23"/>
          <p:cNvSpPr txBox="1"/>
          <p:nvPr/>
        </p:nvSpPr>
        <p:spPr>
          <a:xfrm>
            <a:off x="713232" y="2180844"/>
            <a:ext cx="6263640" cy="292608"/>
          </a:xfrm>
          <a:prstGeom prst="rect">
            <a:avLst/>
          </a:prstGeom>
          <a:noFill/>
        </p:spPr>
        <p:txBody>
          <a:bodyPr wrap="square">
            <a:spAutoFit/>
          </a:bodyPr>
          <a:lstStyle/>
          <a:p>
            <a:pPr algn="l"/>
            <a:r>
              <a:rPr sz="850" b="0" i="0">
                <a:solidFill>
                  <a:srgbClr val="C9D1D9"/>
                </a:solidFill>
              </a:rPr>
              <a:t>HOW:  Qwen 2.5-0.5B-Instruct receives a structured market observation prompt via a chat template (system prompt + user turn). It generates exactly one JSON action such as {"action_type":"buy","commodity":"wheat","price":9,"quantity":5}. vLLM runs inference in colocate mode on the H100 GPU for speed.</a:t>
            </a:r>
          </a:p>
        </p:txBody>
      </p:sp>
      <p:sp>
        <p:nvSpPr>
          <p:cNvPr id="25" name="Rectangle 24"/>
          <p:cNvSpPr/>
          <p:nvPr/>
        </p:nvSpPr>
        <p:spPr>
          <a:xfrm>
            <a:off x="713232" y="2473452"/>
            <a:ext cx="6172200" cy="173736"/>
          </a:xfrm>
          <a:solidFill>
            <a:srgbClr val="1A0F3D"/>
          </a:solidFill>
          <a:ln w="6350">
            <a:solidFill>
              <a:srgbClr val="6E40C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2487168"/>
            <a:ext cx="6080760" cy="155448"/>
          </a:xfrm>
          <a:prstGeom prst="rect">
            <a:avLst/>
          </a:prstGeom>
          <a:noFill/>
        </p:spPr>
        <p:txBody>
          <a:bodyPr wrap="square">
            <a:spAutoFit/>
          </a:bodyPr>
          <a:lstStyle/>
          <a:p>
            <a:pPr algn="l"/>
            <a:r>
              <a:rPr sz="780" b="1" i="0">
                <a:solidFill>
                  <a:srgbClr val="BC8CFF"/>
                </a:solidFill>
              </a:rPr>
              <a:t>IMPACT:  The model's pre-trained language reasoning gives it a head-start on understanding market context.</a:t>
            </a:r>
          </a:p>
        </p:txBody>
      </p:sp>
      <p:sp>
        <p:nvSpPr>
          <p:cNvPr id="27" name="Rectangle 26"/>
          <p:cNvSpPr/>
          <p:nvPr/>
        </p:nvSpPr>
        <p:spPr>
          <a:xfrm>
            <a:off x="402336" y="2660903"/>
            <a:ext cx="36576" cy="91440"/>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4592" y="2715768"/>
            <a:ext cx="6903720" cy="928115"/>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4592" y="2715768"/>
            <a:ext cx="36576" cy="928115"/>
          </a:xfrm>
          <a:solidFill>
            <a:srgbClr val="9E6000"/>
          </a:solidFill>
          <a:ln>
            <a:solidFill>
              <a:srgbClr val="9E600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6032" y="2807208"/>
            <a:ext cx="347472" cy="347472"/>
          </a:xfrm>
          <a:solidFill>
            <a:srgbClr val="2B1A00"/>
          </a:solidFill>
          <a:ln w="10160">
            <a:solidFill>
              <a:srgbClr val="9E600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 y="2788920"/>
            <a:ext cx="347472" cy="347472"/>
          </a:xfrm>
          <a:prstGeom prst="rect">
            <a:avLst/>
          </a:prstGeom>
          <a:noFill/>
        </p:spPr>
        <p:txBody>
          <a:bodyPr wrap="square">
            <a:spAutoFit/>
          </a:bodyPr>
          <a:lstStyle/>
          <a:p>
            <a:pPr algn="ctr"/>
            <a:r>
              <a:rPr sz="1600" b="0" i="0">
                <a:solidFill>
                  <a:srgbClr val="E6EDF3"/>
                </a:solidFill>
              </a:rPr>
              <a:t>⚡</a:t>
            </a:r>
          </a:p>
        </p:txBody>
      </p:sp>
      <p:sp>
        <p:nvSpPr>
          <p:cNvPr id="32" name="TextBox 31"/>
          <p:cNvSpPr txBox="1"/>
          <p:nvPr/>
        </p:nvSpPr>
        <p:spPr>
          <a:xfrm>
            <a:off x="713232" y="2761487"/>
            <a:ext cx="6263640" cy="219456"/>
          </a:xfrm>
          <a:prstGeom prst="rect">
            <a:avLst/>
          </a:prstGeom>
          <a:noFill/>
        </p:spPr>
        <p:txBody>
          <a:bodyPr wrap="square">
            <a:spAutoFit/>
          </a:bodyPr>
          <a:lstStyle/>
          <a:p>
            <a:pPr algn="l"/>
            <a:r>
              <a:rPr sz="1100" b="1" i="0">
                <a:solidFill>
                  <a:srgbClr val="E6EDF3"/>
                </a:solidFill>
              </a:rPr>
              <a:t>3. Execute Action in the Live Market Environment</a:t>
            </a:r>
          </a:p>
        </p:txBody>
      </p:sp>
      <p:sp>
        <p:nvSpPr>
          <p:cNvPr id="33" name="TextBox 32"/>
          <p:cNvSpPr txBox="1"/>
          <p:nvPr/>
        </p:nvSpPr>
        <p:spPr>
          <a:xfrm>
            <a:off x="713232" y="2971800"/>
            <a:ext cx="6263640" cy="201168"/>
          </a:xfrm>
          <a:prstGeom prst="rect">
            <a:avLst/>
          </a:prstGeom>
          <a:noFill/>
        </p:spPr>
        <p:txBody>
          <a:bodyPr wrap="square">
            <a:spAutoFit/>
          </a:bodyPr>
          <a:lstStyle/>
          <a:p>
            <a:pPr algn="l"/>
            <a:r>
              <a:rPr sz="850" b="0" i="1">
                <a:solidFill>
                  <a:srgbClr val="8B949E"/>
                </a:solidFill>
              </a:rPr>
              <a:t>WHY:  The agent's text output must have real consequences — without execution, there is no learning signal.</a:t>
            </a:r>
          </a:p>
        </p:txBody>
      </p:sp>
      <p:sp>
        <p:nvSpPr>
          <p:cNvPr id="34" name="TextBox 33"/>
          <p:cNvSpPr txBox="1"/>
          <p:nvPr/>
        </p:nvSpPr>
        <p:spPr>
          <a:xfrm>
            <a:off x="713232" y="3154679"/>
            <a:ext cx="6263640" cy="292608"/>
          </a:xfrm>
          <a:prstGeom prst="rect">
            <a:avLst/>
          </a:prstGeom>
          <a:noFill/>
        </p:spPr>
        <p:txBody>
          <a:bodyPr wrap="square">
            <a:spAutoFit/>
          </a:bodyPr>
          <a:lstStyle/>
          <a:p>
            <a:pPr algn="l"/>
            <a:r>
              <a:rPr sz="850" b="0" i="0">
                <a:solidFill>
                  <a:srgbClr val="C9D1D9"/>
                </a:solidFill>
              </a:rPr>
              <a:t>HOW:  The JSON action is parsed and sent via HTTP POST /step to the MarketForge OpenEnv (running as a FastAPI service on HuggingFace Spaces). The market engine validates the action, updates the order book or coalition state, and returns the next observation.</a:t>
            </a:r>
          </a:p>
        </p:txBody>
      </p:sp>
      <p:sp>
        <p:nvSpPr>
          <p:cNvPr id="35" name="Rectangle 34"/>
          <p:cNvSpPr/>
          <p:nvPr/>
        </p:nvSpPr>
        <p:spPr>
          <a:xfrm>
            <a:off x="713232" y="3447287"/>
            <a:ext cx="6172200" cy="173736"/>
          </a:xfrm>
          <a:solidFill>
            <a:srgbClr val="2B1A00"/>
          </a:solidFill>
          <a:ln w="6350">
            <a:solidFill>
              <a:srgbClr val="9E600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3461003"/>
            <a:ext cx="6080760" cy="155448"/>
          </a:xfrm>
          <a:prstGeom prst="rect">
            <a:avLst/>
          </a:prstGeom>
          <a:noFill/>
        </p:spPr>
        <p:txBody>
          <a:bodyPr wrap="square">
            <a:spAutoFit/>
          </a:bodyPr>
          <a:lstStyle/>
          <a:p>
            <a:pPr algn="l"/>
            <a:r>
              <a:rPr sz="780" b="1" i="0">
                <a:solidFill>
                  <a:srgbClr val="D29922"/>
                </a:solidFill>
              </a:rPr>
              <a:t>IMPACT:  Creates a genuine feedback loop — bad trades lose money, good negotiations build reputation.</a:t>
            </a:r>
          </a:p>
        </p:txBody>
      </p:sp>
      <p:sp>
        <p:nvSpPr>
          <p:cNvPr id="37" name="Rectangle 36"/>
          <p:cNvSpPr/>
          <p:nvPr/>
        </p:nvSpPr>
        <p:spPr>
          <a:xfrm>
            <a:off x="402336" y="3634740"/>
            <a:ext cx="36576" cy="91440"/>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64592" y="3689604"/>
            <a:ext cx="6903720" cy="928115"/>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4592" y="3689604"/>
            <a:ext cx="36576" cy="928115"/>
          </a:xfrm>
          <a:solidFill>
            <a:srgbClr val="238636"/>
          </a:solidFill>
          <a:ln>
            <a:solidFill>
              <a:srgbClr val="23863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56032" y="3781044"/>
            <a:ext cx="347472" cy="347472"/>
          </a:xfrm>
          <a:solidFill>
            <a:srgbClr val="0A2110"/>
          </a:solidFill>
          <a:ln w="10160">
            <a:solidFill>
              <a:srgbClr val="23863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6032" y="3762756"/>
            <a:ext cx="347472" cy="347472"/>
          </a:xfrm>
          <a:prstGeom prst="rect">
            <a:avLst/>
          </a:prstGeom>
          <a:noFill/>
        </p:spPr>
        <p:txBody>
          <a:bodyPr wrap="square">
            <a:spAutoFit/>
          </a:bodyPr>
          <a:lstStyle/>
          <a:p>
            <a:pPr algn="ctr"/>
            <a:r>
              <a:rPr sz="1600" b="0" i="0">
                <a:solidFill>
                  <a:srgbClr val="E6EDF3"/>
                </a:solidFill>
              </a:rPr>
              <a:t>🏆</a:t>
            </a:r>
          </a:p>
        </p:txBody>
      </p:sp>
      <p:sp>
        <p:nvSpPr>
          <p:cNvPr id="42" name="TextBox 41"/>
          <p:cNvSpPr txBox="1"/>
          <p:nvPr/>
        </p:nvSpPr>
        <p:spPr>
          <a:xfrm>
            <a:off x="713232" y="3735324"/>
            <a:ext cx="6263640" cy="219456"/>
          </a:xfrm>
          <a:prstGeom prst="rect">
            <a:avLst/>
          </a:prstGeom>
          <a:noFill/>
        </p:spPr>
        <p:txBody>
          <a:bodyPr wrap="square">
            <a:spAutoFit/>
          </a:bodyPr>
          <a:lstStyle/>
          <a:p>
            <a:pPr algn="l"/>
            <a:r>
              <a:rPr sz="1100" b="1" i="0">
                <a:solidFill>
                  <a:srgbClr val="E6EDF3"/>
                </a:solidFill>
              </a:rPr>
              <a:t>4. Compute Multi-Level Rewards</a:t>
            </a:r>
          </a:p>
        </p:txBody>
      </p:sp>
      <p:sp>
        <p:nvSpPr>
          <p:cNvPr id="43" name="TextBox 42"/>
          <p:cNvSpPr txBox="1"/>
          <p:nvPr/>
        </p:nvSpPr>
        <p:spPr>
          <a:xfrm>
            <a:off x="713232" y="3945636"/>
            <a:ext cx="6263640" cy="201168"/>
          </a:xfrm>
          <a:prstGeom prst="rect">
            <a:avLst/>
          </a:prstGeom>
          <a:noFill/>
        </p:spPr>
        <p:txBody>
          <a:bodyPr wrap="square">
            <a:spAutoFit/>
          </a:bodyPr>
          <a:lstStyle/>
          <a:p>
            <a:pPr algn="l"/>
            <a:r>
              <a:rPr sz="850" b="0" i="1">
                <a:solidFill>
                  <a:srgbClr val="8B949E"/>
                </a:solidFill>
              </a:rPr>
              <a:t>WHY:  A single reward can't capture all dimensions of good trading — profit alone ignores strategic depth.</a:t>
            </a:r>
          </a:p>
        </p:txBody>
      </p:sp>
      <p:sp>
        <p:nvSpPr>
          <p:cNvPr id="44" name="TextBox 43"/>
          <p:cNvSpPr txBox="1"/>
          <p:nvPr/>
        </p:nvSpPr>
        <p:spPr>
          <a:xfrm>
            <a:off x="713232" y="4128516"/>
            <a:ext cx="6263640" cy="292608"/>
          </a:xfrm>
          <a:prstGeom prst="rect">
            <a:avLst/>
          </a:prstGeom>
          <a:noFill/>
        </p:spPr>
        <p:txBody>
          <a:bodyPr wrap="square">
            <a:spAutoFit/>
          </a:bodyPr>
          <a:lstStyle/>
          <a:p>
            <a:pPr algn="l"/>
            <a:r>
              <a:rPr sz="850" b="0" i="0">
                <a:solidFill>
                  <a:srgbClr val="C9D1D9"/>
                </a:solidFill>
              </a:rPr>
              <a:t>HOW:  Three reward signals are computed per episode: (a) env_reward — did the trade make a profit? (b) format_reward — was the JSON valid and the action_type legal? (c) strategic_reward — did the agent negotiate, form coalitions, or produce compound goods?  These are weighted 40% / 20% / 20% (plus 10% event-response + 10% wealth-growth).</a:t>
            </a:r>
          </a:p>
        </p:txBody>
      </p:sp>
      <p:sp>
        <p:nvSpPr>
          <p:cNvPr id="45" name="Rectangle 44"/>
          <p:cNvSpPr/>
          <p:nvPr/>
        </p:nvSpPr>
        <p:spPr>
          <a:xfrm>
            <a:off x="713232" y="4421124"/>
            <a:ext cx="6172200" cy="173736"/>
          </a:xfrm>
          <a:solidFill>
            <a:srgbClr val="0A2110"/>
          </a:solidFill>
          <a:ln w="6350">
            <a:solidFill>
              <a:srgbClr val="23863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6384" y="4434840"/>
            <a:ext cx="6080760" cy="155448"/>
          </a:xfrm>
          <a:prstGeom prst="rect">
            <a:avLst/>
          </a:prstGeom>
          <a:noFill/>
        </p:spPr>
        <p:txBody>
          <a:bodyPr wrap="square">
            <a:spAutoFit/>
          </a:bodyPr>
          <a:lstStyle/>
          <a:p>
            <a:pPr algn="l"/>
            <a:r>
              <a:rPr sz="780" b="1" i="0">
                <a:solidFill>
                  <a:srgbClr val="3FB950"/>
                </a:solidFill>
              </a:rPr>
              <a:t>IMPACT:  The agent learns to be both technically correct AND strategically intelligent simultaneously.</a:t>
            </a:r>
          </a:p>
        </p:txBody>
      </p:sp>
      <p:sp>
        <p:nvSpPr>
          <p:cNvPr id="47" name="Rectangle 46"/>
          <p:cNvSpPr/>
          <p:nvPr/>
        </p:nvSpPr>
        <p:spPr>
          <a:xfrm>
            <a:off x="402336" y="4608576"/>
            <a:ext cx="36576" cy="91440"/>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64592" y="4663440"/>
            <a:ext cx="6903720" cy="928115"/>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4592" y="4663440"/>
            <a:ext cx="36576" cy="928115"/>
          </a:xfrm>
          <a:solidFill>
            <a:srgbClr val="007976"/>
          </a:solidFill>
          <a:ln>
            <a:solidFill>
              <a:srgbClr val="00797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6032" y="4754879"/>
            <a:ext cx="347472" cy="347472"/>
          </a:xfrm>
          <a:solidFill>
            <a:srgbClr val="001E1A"/>
          </a:solidFill>
          <a:ln w="10160">
            <a:solidFill>
              <a:srgbClr val="00797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6032" y="4736592"/>
            <a:ext cx="347472" cy="347472"/>
          </a:xfrm>
          <a:prstGeom prst="rect">
            <a:avLst/>
          </a:prstGeom>
          <a:noFill/>
        </p:spPr>
        <p:txBody>
          <a:bodyPr wrap="square">
            <a:spAutoFit/>
          </a:bodyPr>
          <a:lstStyle/>
          <a:p>
            <a:pPr algn="ctr"/>
            <a:r>
              <a:rPr sz="1600" b="0" i="0">
                <a:solidFill>
                  <a:srgbClr val="E6EDF3"/>
                </a:solidFill>
              </a:rPr>
              <a:t>🔄</a:t>
            </a:r>
          </a:p>
        </p:txBody>
      </p:sp>
      <p:sp>
        <p:nvSpPr>
          <p:cNvPr id="52" name="TextBox 51"/>
          <p:cNvSpPr txBox="1"/>
          <p:nvPr/>
        </p:nvSpPr>
        <p:spPr>
          <a:xfrm>
            <a:off x="713232" y="4709159"/>
            <a:ext cx="6263640" cy="219456"/>
          </a:xfrm>
          <a:prstGeom prst="rect">
            <a:avLst/>
          </a:prstGeom>
          <a:noFill/>
        </p:spPr>
        <p:txBody>
          <a:bodyPr wrap="square">
            <a:spAutoFit/>
          </a:bodyPr>
          <a:lstStyle/>
          <a:p>
            <a:pPr algn="l"/>
            <a:r>
              <a:rPr sz="1100" b="1" i="0">
                <a:solidFill>
                  <a:srgbClr val="E6EDF3"/>
                </a:solidFill>
              </a:rPr>
              <a:t>5. GRPO Optimiser Updates the Policy</a:t>
            </a:r>
          </a:p>
        </p:txBody>
      </p:sp>
      <p:sp>
        <p:nvSpPr>
          <p:cNvPr id="53" name="TextBox 52"/>
          <p:cNvSpPr txBox="1"/>
          <p:nvPr/>
        </p:nvSpPr>
        <p:spPr>
          <a:xfrm>
            <a:off x="713232" y="4919472"/>
            <a:ext cx="6263640" cy="201168"/>
          </a:xfrm>
          <a:prstGeom prst="rect">
            <a:avLst/>
          </a:prstGeom>
          <a:noFill/>
        </p:spPr>
        <p:txBody>
          <a:bodyPr wrap="square">
            <a:spAutoFit/>
          </a:bodyPr>
          <a:lstStyle/>
          <a:p>
            <a:pPr algn="l"/>
            <a:r>
              <a:rPr sz="850" b="0" i="1">
                <a:solidFill>
                  <a:srgbClr val="8B949E"/>
                </a:solidFill>
              </a:rPr>
              <a:t>WHY:  Supervised learning can't teach strategy from scratch — the agent must learn from its own outcomes.</a:t>
            </a:r>
          </a:p>
        </p:txBody>
      </p:sp>
      <p:sp>
        <p:nvSpPr>
          <p:cNvPr id="54" name="TextBox 53"/>
          <p:cNvSpPr txBox="1"/>
          <p:nvPr/>
        </p:nvSpPr>
        <p:spPr>
          <a:xfrm>
            <a:off x="713232" y="5102352"/>
            <a:ext cx="6263640" cy="292608"/>
          </a:xfrm>
          <a:prstGeom prst="rect">
            <a:avLst/>
          </a:prstGeom>
          <a:noFill/>
        </p:spPr>
        <p:txBody>
          <a:bodyPr wrap="square">
            <a:spAutoFit/>
          </a:bodyPr>
          <a:lstStyle/>
          <a:p>
            <a:pPr algn="l"/>
            <a:r>
              <a:rPr sz="850" b="0" i="0">
                <a:solidFill>
                  <a:srgbClr val="C9D1D9"/>
                </a:solidFill>
              </a:rPr>
              <a:t>HOW:  TRL's GRPOTrainer generates a group of candidate actions for each prompt, scores them with the reward functions, computes relative advantages (better-than-average = positive signal), and updates model weights via gradient descent with clipping. Checkpoints are saved every 50 steps.</a:t>
            </a:r>
          </a:p>
        </p:txBody>
      </p:sp>
      <p:sp>
        <p:nvSpPr>
          <p:cNvPr id="55" name="Rectangle 54"/>
          <p:cNvSpPr/>
          <p:nvPr/>
        </p:nvSpPr>
        <p:spPr>
          <a:xfrm>
            <a:off x="713232" y="5394959"/>
            <a:ext cx="6172200" cy="173736"/>
          </a:xfrm>
          <a:solidFill>
            <a:srgbClr val="001E1A"/>
          </a:solidFill>
          <a:ln w="6350">
            <a:solidFill>
              <a:srgbClr val="00797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6384" y="5408675"/>
            <a:ext cx="6080760" cy="155448"/>
          </a:xfrm>
          <a:prstGeom prst="rect">
            <a:avLst/>
          </a:prstGeom>
          <a:noFill/>
        </p:spPr>
        <p:txBody>
          <a:bodyPr wrap="square">
            <a:spAutoFit/>
          </a:bodyPr>
          <a:lstStyle/>
          <a:p>
            <a:pPr algn="l"/>
            <a:r>
              <a:rPr sz="780" b="1" i="0">
                <a:solidFill>
                  <a:srgbClr val="39D353"/>
                </a:solidFill>
              </a:rPr>
              <a:t>IMPACT:  With each iteration the agent shifts from random actions toward profitable, strategic moves.</a:t>
            </a:r>
          </a:p>
        </p:txBody>
      </p:sp>
      <p:sp>
        <p:nvSpPr>
          <p:cNvPr id="57" name="Rectangle 56"/>
          <p:cNvSpPr/>
          <p:nvPr/>
        </p:nvSpPr>
        <p:spPr>
          <a:xfrm>
            <a:off x="402336" y="5582412"/>
            <a:ext cx="36576" cy="91440"/>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64592" y="5637275"/>
            <a:ext cx="6903720" cy="928115"/>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64592" y="5637275"/>
            <a:ext cx="36576" cy="928115"/>
          </a:xfrm>
          <a:solidFill>
            <a:srgbClr val="1F6FEB"/>
          </a:solidFill>
          <a:ln>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56032" y="5728715"/>
            <a:ext cx="347472" cy="347472"/>
          </a:xfrm>
          <a:solidFill>
            <a:srgbClr val="0F2B4E"/>
          </a:solidFill>
          <a:ln w="10160">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6032" y="5710427"/>
            <a:ext cx="347472" cy="347472"/>
          </a:xfrm>
          <a:prstGeom prst="rect">
            <a:avLst/>
          </a:prstGeom>
          <a:noFill/>
        </p:spPr>
        <p:txBody>
          <a:bodyPr wrap="square">
            <a:spAutoFit/>
          </a:bodyPr>
          <a:lstStyle/>
          <a:p>
            <a:pPr algn="ctr"/>
            <a:r>
              <a:rPr sz="1600" b="0" i="0">
                <a:solidFill>
                  <a:srgbClr val="E6EDF3"/>
                </a:solidFill>
              </a:rPr>
              <a:t>🚀</a:t>
            </a:r>
          </a:p>
        </p:txBody>
      </p:sp>
      <p:sp>
        <p:nvSpPr>
          <p:cNvPr id="62" name="TextBox 61"/>
          <p:cNvSpPr txBox="1"/>
          <p:nvPr/>
        </p:nvSpPr>
        <p:spPr>
          <a:xfrm>
            <a:off x="713232" y="5682995"/>
            <a:ext cx="6263640" cy="219456"/>
          </a:xfrm>
          <a:prstGeom prst="rect">
            <a:avLst/>
          </a:prstGeom>
          <a:noFill/>
        </p:spPr>
        <p:txBody>
          <a:bodyPr wrap="square">
            <a:spAutoFit/>
          </a:bodyPr>
          <a:lstStyle/>
          <a:p>
            <a:pPr algn="l"/>
            <a:r>
              <a:rPr sz="1100" b="1" i="0">
                <a:solidFill>
                  <a:srgbClr val="E6EDF3"/>
                </a:solidFill>
              </a:rPr>
              <a:t>6. Trained Agent Deployed to HuggingFace Hub</a:t>
            </a:r>
          </a:p>
        </p:txBody>
      </p:sp>
      <p:sp>
        <p:nvSpPr>
          <p:cNvPr id="63" name="TextBox 62"/>
          <p:cNvSpPr txBox="1"/>
          <p:nvPr/>
        </p:nvSpPr>
        <p:spPr>
          <a:xfrm>
            <a:off x="713232" y="5893307"/>
            <a:ext cx="6263640" cy="201168"/>
          </a:xfrm>
          <a:prstGeom prst="rect">
            <a:avLst/>
          </a:prstGeom>
          <a:noFill/>
        </p:spPr>
        <p:txBody>
          <a:bodyPr wrap="square">
            <a:spAutoFit/>
          </a:bodyPr>
          <a:lstStyle/>
          <a:p>
            <a:pPr algn="l"/>
            <a:r>
              <a:rPr sz="850" b="0" i="1">
                <a:solidFill>
                  <a:srgbClr val="8B949E"/>
                </a:solidFill>
              </a:rPr>
              <a:t>WHY:  The trained model needs to be versioned, shareable, and reusable for evaluation.</a:t>
            </a:r>
          </a:p>
        </p:txBody>
      </p:sp>
      <p:sp>
        <p:nvSpPr>
          <p:cNvPr id="64" name="TextBox 63"/>
          <p:cNvSpPr txBox="1"/>
          <p:nvPr/>
        </p:nvSpPr>
        <p:spPr>
          <a:xfrm>
            <a:off x="713232" y="6076188"/>
            <a:ext cx="6263640" cy="292608"/>
          </a:xfrm>
          <a:prstGeom prst="rect">
            <a:avLst/>
          </a:prstGeom>
          <a:noFill/>
        </p:spPr>
        <p:txBody>
          <a:bodyPr wrap="square">
            <a:spAutoFit/>
          </a:bodyPr>
          <a:lstStyle/>
          <a:p>
            <a:pPr algn="l"/>
            <a:r>
              <a:rPr sz="850" b="0" i="0">
                <a:solidFill>
                  <a:srgbClr val="C9D1D9"/>
                </a:solidFill>
              </a:rPr>
              <a:t>HOW:  The final checkpoint is pushed to kenmandal/market-forge-agent on HuggingFace Hub. Training charts and reward curves are uploaded alongside the model card. The model can then be loaded and connected back to the live HF Space environment for benchmarking.</a:t>
            </a:r>
          </a:p>
        </p:txBody>
      </p:sp>
      <p:sp>
        <p:nvSpPr>
          <p:cNvPr id="65" name="Rectangle 64"/>
          <p:cNvSpPr/>
          <p:nvPr/>
        </p:nvSpPr>
        <p:spPr>
          <a:xfrm>
            <a:off x="713232" y="6368795"/>
            <a:ext cx="6172200" cy="173736"/>
          </a:xfrm>
          <a:solidFill>
            <a:srgbClr val="0F2B4E"/>
          </a:solidFill>
          <a:ln w="6350">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6384" y="6382511"/>
            <a:ext cx="6080760" cy="155448"/>
          </a:xfrm>
          <a:prstGeom prst="rect">
            <a:avLst/>
          </a:prstGeom>
          <a:noFill/>
        </p:spPr>
        <p:txBody>
          <a:bodyPr wrap="square">
            <a:spAutoFit/>
          </a:bodyPr>
          <a:lstStyle/>
          <a:p>
            <a:pPr algn="l"/>
            <a:r>
              <a:rPr sz="780" b="1" i="0">
                <a:solidFill>
                  <a:srgbClr val="58A6FF"/>
                </a:solidFill>
              </a:rPr>
              <a:t>IMPACT:  JSON format accuracy improves from ~40% → 95%+.  Strategic actions (negotiate + coalition) rise from 5% → 35% of all moves.</a:t>
            </a:r>
          </a:p>
        </p:txBody>
      </p:sp>
      <p:sp>
        <p:nvSpPr>
          <p:cNvPr id="67" name="TextBox 66"/>
          <p:cNvSpPr txBox="1"/>
          <p:nvPr/>
        </p:nvSpPr>
        <p:spPr>
          <a:xfrm>
            <a:off x="713232" y="5618988"/>
            <a:ext cx="5029200" cy="201168"/>
          </a:xfrm>
          <a:prstGeom prst="rect">
            <a:avLst/>
          </a:prstGeom>
          <a:noFill/>
        </p:spPr>
        <p:txBody>
          <a:bodyPr wrap="square">
            <a:spAutoFit/>
          </a:bodyPr>
          <a:lstStyle/>
          <a:p>
            <a:pPr algn="l"/>
            <a:r>
              <a:rPr sz="850" b="0" i="1">
                <a:solidFill>
                  <a:srgbClr val="58A6FF"/>
                </a:solidFill>
              </a:rPr>
              <a:t>↩  After each batch the updated policy loops back to Step 2 — the model keeps improving with every pass.</a:t>
            </a:r>
          </a:p>
        </p:txBody>
      </p:sp>
      <p:sp>
        <p:nvSpPr>
          <p:cNvPr id="68" name="Rectangle 67"/>
          <p:cNvSpPr/>
          <p:nvPr/>
        </p:nvSpPr>
        <p:spPr>
          <a:xfrm>
            <a:off x="7278624" y="768096"/>
            <a:ext cx="4736592" cy="2359152"/>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24927" y="841247"/>
            <a:ext cx="4517136" cy="201168"/>
          </a:xfrm>
          <a:prstGeom prst="rect">
            <a:avLst/>
          </a:prstGeom>
          <a:noFill/>
        </p:spPr>
        <p:txBody>
          <a:bodyPr wrap="square">
            <a:spAutoFit/>
          </a:bodyPr>
          <a:lstStyle/>
          <a:p>
            <a:pPr algn="l"/>
            <a:r>
              <a:rPr sz="750" b="1" i="0">
                <a:solidFill>
                  <a:srgbClr val="8B949E"/>
                </a:solidFill>
              </a:rPr>
              <a:t>REWARD WEIGHTS  —  why each signal matters</a:t>
            </a:r>
          </a:p>
        </p:txBody>
      </p:sp>
      <p:sp>
        <p:nvSpPr>
          <p:cNvPr id="70" name="TextBox 69"/>
          <p:cNvSpPr txBox="1"/>
          <p:nvPr/>
        </p:nvSpPr>
        <p:spPr>
          <a:xfrm>
            <a:off x="7424927" y="1115568"/>
            <a:ext cx="1792224" cy="182880"/>
          </a:xfrm>
          <a:prstGeom prst="rect">
            <a:avLst/>
          </a:prstGeom>
          <a:noFill/>
        </p:spPr>
        <p:txBody>
          <a:bodyPr wrap="square">
            <a:spAutoFit/>
          </a:bodyPr>
          <a:lstStyle/>
          <a:p>
            <a:pPr algn="l"/>
            <a:r>
              <a:rPr sz="850" b="1" i="0">
                <a:solidFill>
                  <a:srgbClr val="E6EDF3"/>
                </a:solidFill>
              </a:rPr>
              <a:t>Environment (profit / loss)</a:t>
            </a:r>
          </a:p>
        </p:txBody>
      </p:sp>
      <p:sp>
        <p:nvSpPr>
          <p:cNvPr id="71" name="TextBox 70"/>
          <p:cNvSpPr txBox="1"/>
          <p:nvPr/>
        </p:nvSpPr>
        <p:spPr>
          <a:xfrm>
            <a:off x="7424927" y="1280160"/>
            <a:ext cx="1792224" cy="164592"/>
          </a:xfrm>
          <a:prstGeom prst="rect">
            <a:avLst/>
          </a:prstGeom>
          <a:noFill/>
        </p:spPr>
        <p:txBody>
          <a:bodyPr wrap="square">
            <a:spAutoFit/>
          </a:bodyPr>
          <a:lstStyle/>
          <a:p>
            <a:pPr algn="l"/>
            <a:r>
              <a:rPr sz="750" b="0" i="1">
                <a:solidFill>
                  <a:srgbClr val="8B949E"/>
                </a:solidFill>
              </a:rPr>
              <a:t>Did the trade actually make money?</a:t>
            </a:r>
          </a:p>
        </p:txBody>
      </p:sp>
      <p:sp>
        <p:nvSpPr>
          <p:cNvPr id="72" name="Rectangle 71"/>
          <p:cNvSpPr/>
          <p:nvPr/>
        </p:nvSpPr>
        <p:spPr>
          <a:xfrm>
            <a:off x="9272015" y="1152144"/>
            <a:ext cx="2377440" cy="128016"/>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272015" y="1152144"/>
            <a:ext cx="950976" cy="128016"/>
          </a:xfrm>
          <a:solidFill>
            <a:srgbClr val="3FB950"/>
          </a:solidFill>
          <a:ln>
            <a:solidFill>
              <a:srgbClr val="3FB95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695176" y="1133856"/>
            <a:ext cx="310896" cy="164592"/>
          </a:xfrm>
          <a:prstGeom prst="rect">
            <a:avLst/>
          </a:prstGeom>
          <a:noFill/>
        </p:spPr>
        <p:txBody>
          <a:bodyPr wrap="square">
            <a:spAutoFit/>
          </a:bodyPr>
          <a:lstStyle/>
          <a:p>
            <a:pPr algn="l"/>
            <a:r>
              <a:rPr sz="850" b="1" i="0">
                <a:solidFill>
                  <a:srgbClr val="3FB950"/>
                </a:solidFill>
              </a:rPr>
              <a:t>40%</a:t>
            </a:r>
          </a:p>
        </p:txBody>
      </p:sp>
      <p:sp>
        <p:nvSpPr>
          <p:cNvPr id="75" name="TextBox 74"/>
          <p:cNvSpPr txBox="1"/>
          <p:nvPr/>
        </p:nvSpPr>
        <p:spPr>
          <a:xfrm>
            <a:off x="7424927" y="1499616"/>
            <a:ext cx="1792224" cy="182880"/>
          </a:xfrm>
          <a:prstGeom prst="rect">
            <a:avLst/>
          </a:prstGeom>
          <a:noFill/>
        </p:spPr>
        <p:txBody>
          <a:bodyPr wrap="square">
            <a:spAutoFit/>
          </a:bodyPr>
          <a:lstStyle/>
          <a:p>
            <a:pPr algn="l"/>
            <a:r>
              <a:rPr sz="850" b="1" i="0">
                <a:solidFill>
                  <a:srgbClr val="E6EDF3"/>
                </a:solidFill>
              </a:rPr>
              <a:t>Valid JSON format accuracy</a:t>
            </a:r>
          </a:p>
        </p:txBody>
      </p:sp>
      <p:sp>
        <p:nvSpPr>
          <p:cNvPr id="76" name="TextBox 75"/>
          <p:cNvSpPr txBox="1"/>
          <p:nvPr/>
        </p:nvSpPr>
        <p:spPr>
          <a:xfrm>
            <a:off x="7424927" y="1664207"/>
            <a:ext cx="1792224" cy="164592"/>
          </a:xfrm>
          <a:prstGeom prst="rect">
            <a:avLst/>
          </a:prstGeom>
          <a:noFill/>
        </p:spPr>
        <p:txBody>
          <a:bodyPr wrap="square">
            <a:spAutoFit/>
          </a:bodyPr>
          <a:lstStyle/>
          <a:p>
            <a:pPr algn="l"/>
            <a:r>
              <a:rPr sz="750" b="0" i="1">
                <a:solidFill>
                  <a:srgbClr val="8B949E"/>
                </a:solidFill>
              </a:rPr>
              <a:t>Is the output well-formed and parseable?</a:t>
            </a:r>
          </a:p>
        </p:txBody>
      </p:sp>
      <p:sp>
        <p:nvSpPr>
          <p:cNvPr id="77" name="Rectangle 76"/>
          <p:cNvSpPr/>
          <p:nvPr/>
        </p:nvSpPr>
        <p:spPr>
          <a:xfrm>
            <a:off x="9272015" y="1536192"/>
            <a:ext cx="2377440" cy="128016"/>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272015" y="1536192"/>
            <a:ext cx="475488" cy="128016"/>
          </a:xfrm>
          <a:solidFill>
            <a:srgbClr val="58A6FF"/>
          </a:solidFill>
          <a:ln>
            <a:solidFill>
              <a:srgbClr val="58A6FF"/>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695176" y="1517904"/>
            <a:ext cx="310896" cy="164592"/>
          </a:xfrm>
          <a:prstGeom prst="rect">
            <a:avLst/>
          </a:prstGeom>
          <a:noFill/>
        </p:spPr>
        <p:txBody>
          <a:bodyPr wrap="square">
            <a:spAutoFit/>
          </a:bodyPr>
          <a:lstStyle/>
          <a:p>
            <a:pPr algn="l"/>
            <a:r>
              <a:rPr sz="850" b="1" i="0">
                <a:solidFill>
                  <a:srgbClr val="58A6FF"/>
                </a:solidFill>
              </a:rPr>
              <a:t>20%</a:t>
            </a:r>
          </a:p>
        </p:txBody>
      </p:sp>
      <p:sp>
        <p:nvSpPr>
          <p:cNvPr id="80" name="TextBox 79"/>
          <p:cNvSpPr txBox="1"/>
          <p:nvPr/>
        </p:nvSpPr>
        <p:spPr>
          <a:xfrm>
            <a:off x="7424927" y="1883664"/>
            <a:ext cx="1792224" cy="182880"/>
          </a:xfrm>
          <a:prstGeom prst="rect">
            <a:avLst/>
          </a:prstGeom>
          <a:noFill/>
        </p:spPr>
        <p:txBody>
          <a:bodyPr wrap="square">
            <a:spAutoFit/>
          </a:bodyPr>
          <a:lstStyle/>
          <a:p>
            <a:pPr algn="l"/>
            <a:r>
              <a:rPr sz="850" b="1" i="0">
                <a:solidFill>
                  <a:srgbClr val="E6EDF3"/>
                </a:solidFill>
              </a:rPr>
              <a:t>Strategic depth (ToM actions)</a:t>
            </a:r>
          </a:p>
        </p:txBody>
      </p:sp>
      <p:sp>
        <p:nvSpPr>
          <p:cNvPr id="81" name="TextBox 80"/>
          <p:cNvSpPr txBox="1"/>
          <p:nvPr/>
        </p:nvSpPr>
        <p:spPr>
          <a:xfrm>
            <a:off x="7424927" y="2048256"/>
            <a:ext cx="1792224" cy="164592"/>
          </a:xfrm>
          <a:prstGeom prst="rect">
            <a:avLst/>
          </a:prstGeom>
          <a:noFill/>
        </p:spPr>
        <p:txBody>
          <a:bodyPr wrap="square">
            <a:spAutoFit/>
          </a:bodyPr>
          <a:lstStyle/>
          <a:p>
            <a:pPr algn="l"/>
            <a:r>
              <a:rPr sz="750" b="0" i="1">
                <a:solidFill>
                  <a:srgbClr val="8B949E"/>
                </a:solidFill>
              </a:rPr>
              <a:t>Did the agent negotiate or form coalitions?</a:t>
            </a:r>
          </a:p>
        </p:txBody>
      </p:sp>
      <p:sp>
        <p:nvSpPr>
          <p:cNvPr id="82" name="Rectangle 81"/>
          <p:cNvSpPr/>
          <p:nvPr/>
        </p:nvSpPr>
        <p:spPr>
          <a:xfrm>
            <a:off x="9272015" y="1920240"/>
            <a:ext cx="2377440" cy="128016"/>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72015" y="1920240"/>
            <a:ext cx="475488" cy="128016"/>
          </a:xfrm>
          <a:solidFill>
            <a:srgbClr val="BC8CFF"/>
          </a:solidFill>
          <a:ln>
            <a:solidFill>
              <a:srgbClr val="BC8CFF"/>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695176" y="1901952"/>
            <a:ext cx="310896" cy="164592"/>
          </a:xfrm>
          <a:prstGeom prst="rect">
            <a:avLst/>
          </a:prstGeom>
          <a:noFill/>
        </p:spPr>
        <p:txBody>
          <a:bodyPr wrap="square">
            <a:spAutoFit/>
          </a:bodyPr>
          <a:lstStyle/>
          <a:p>
            <a:pPr algn="l"/>
            <a:r>
              <a:rPr sz="850" b="1" i="0">
                <a:solidFill>
                  <a:srgbClr val="BC8CFF"/>
                </a:solidFill>
              </a:rPr>
              <a:t>20%</a:t>
            </a:r>
          </a:p>
        </p:txBody>
      </p:sp>
      <p:sp>
        <p:nvSpPr>
          <p:cNvPr id="85" name="TextBox 84"/>
          <p:cNvSpPr txBox="1"/>
          <p:nvPr/>
        </p:nvSpPr>
        <p:spPr>
          <a:xfrm>
            <a:off x="7424927" y="2267712"/>
            <a:ext cx="1792224" cy="182880"/>
          </a:xfrm>
          <a:prstGeom prst="rect">
            <a:avLst/>
          </a:prstGeom>
          <a:noFill/>
        </p:spPr>
        <p:txBody>
          <a:bodyPr wrap="square">
            <a:spAutoFit/>
          </a:bodyPr>
          <a:lstStyle/>
          <a:p>
            <a:pPr algn="l"/>
            <a:r>
              <a:rPr sz="850" b="1" i="0">
                <a:solidFill>
                  <a:srgbClr val="E6EDF3"/>
                </a:solidFill>
              </a:rPr>
              <a:t>Event-response adaptability</a:t>
            </a:r>
          </a:p>
        </p:txBody>
      </p:sp>
      <p:sp>
        <p:nvSpPr>
          <p:cNvPr id="86" name="TextBox 85"/>
          <p:cNvSpPr txBox="1"/>
          <p:nvPr/>
        </p:nvSpPr>
        <p:spPr>
          <a:xfrm>
            <a:off x="7424927" y="2432304"/>
            <a:ext cx="1792224" cy="164592"/>
          </a:xfrm>
          <a:prstGeom prst="rect">
            <a:avLst/>
          </a:prstGeom>
          <a:noFill/>
        </p:spPr>
        <p:txBody>
          <a:bodyPr wrap="square">
            <a:spAutoFit/>
          </a:bodyPr>
          <a:lstStyle/>
          <a:p>
            <a:pPr algn="l"/>
            <a:r>
              <a:rPr sz="750" b="0" i="1">
                <a:solidFill>
                  <a:srgbClr val="8B949E"/>
                </a:solidFill>
              </a:rPr>
              <a:t>Did it react correctly to market news?</a:t>
            </a:r>
          </a:p>
        </p:txBody>
      </p:sp>
      <p:sp>
        <p:nvSpPr>
          <p:cNvPr id="87" name="Rectangle 86"/>
          <p:cNvSpPr/>
          <p:nvPr/>
        </p:nvSpPr>
        <p:spPr>
          <a:xfrm>
            <a:off x="9272015" y="2304288"/>
            <a:ext cx="2377440" cy="128016"/>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272015" y="2304288"/>
            <a:ext cx="237744" cy="128016"/>
          </a:xfrm>
          <a:solidFill>
            <a:srgbClr val="D29922"/>
          </a:solidFill>
          <a:ln>
            <a:solidFill>
              <a:srgbClr val="D29922"/>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695176" y="2286000"/>
            <a:ext cx="310896" cy="164592"/>
          </a:xfrm>
          <a:prstGeom prst="rect">
            <a:avLst/>
          </a:prstGeom>
          <a:noFill/>
        </p:spPr>
        <p:txBody>
          <a:bodyPr wrap="square">
            <a:spAutoFit/>
          </a:bodyPr>
          <a:lstStyle/>
          <a:p>
            <a:pPr algn="l"/>
            <a:r>
              <a:rPr sz="850" b="1" i="0">
                <a:solidFill>
                  <a:srgbClr val="D29922"/>
                </a:solidFill>
              </a:rPr>
              <a:t>10%</a:t>
            </a:r>
          </a:p>
        </p:txBody>
      </p:sp>
      <p:sp>
        <p:nvSpPr>
          <p:cNvPr id="90" name="TextBox 89"/>
          <p:cNvSpPr txBox="1"/>
          <p:nvPr/>
        </p:nvSpPr>
        <p:spPr>
          <a:xfrm>
            <a:off x="7424927" y="2651760"/>
            <a:ext cx="1792224" cy="182880"/>
          </a:xfrm>
          <a:prstGeom prst="rect">
            <a:avLst/>
          </a:prstGeom>
          <a:noFill/>
        </p:spPr>
        <p:txBody>
          <a:bodyPr wrap="square">
            <a:spAutoFit/>
          </a:bodyPr>
          <a:lstStyle/>
          <a:p>
            <a:pPr algn="l"/>
            <a:r>
              <a:rPr sz="850" b="1" i="0">
                <a:solidFill>
                  <a:srgbClr val="E6EDF3"/>
                </a:solidFill>
              </a:rPr>
              <a:t>Episode wealth growth</a:t>
            </a:r>
          </a:p>
        </p:txBody>
      </p:sp>
      <p:sp>
        <p:nvSpPr>
          <p:cNvPr id="91" name="TextBox 90"/>
          <p:cNvSpPr txBox="1"/>
          <p:nvPr/>
        </p:nvSpPr>
        <p:spPr>
          <a:xfrm>
            <a:off x="7424927" y="2816352"/>
            <a:ext cx="1792224" cy="164592"/>
          </a:xfrm>
          <a:prstGeom prst="rect">
            <a:avLst/>
          </a:prstGeom>
          <a:noFill/>
        </p:spPr>
        <p:txBody>
          <a:bodyPr wrap="square">
            <a:spAutoFit/>
          </a:bodyPr>
          <a:lstStyle/>
          <a:p>
            <a:pPr algn="l"/>
            <a:r>
              <a:rPr sz="750" b="0" i="1">
                <a:solidFill>
                  <a:srgbClr val="8B949E"/>
                </a:solidFill>
              </a:rPr>
              <a:t>Did total wealth increase by game end?</a:t>
            </a:r>
          </a:p>
        </p:txBody>
      </p:sp>
      <p:sp>
        <p:nvSpPr>
          <p:cNvPr id="92" name="Rectangle 91"/>
          <p:cNvSpPr/>
          <p:nvPr/>
        </p:nvSpPr>
        <p:spPr>
          <a:xfrm>
            <a:off x="9272015" y="2688336"/>
            <a:ext cx="2377440" cy="128016"/>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272015" y="2688336"/>
            <a:ext cx="237744" cy="128016"/>
          </a:xfrm>
          <a:solidFill>
            <a:srgbClr val="F85149"/>
          </a:solidFill>
          <a:ln>
            <a:solidFill>
              <a:srgbClr val="F8514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695176" y="2670048"/>
            <a:ext cx="310896" cy="164592"/>
          </a:xfrm>
          <a:prstGeom prst="rect">
            <a:avLst/>
          </a:prstGeom>
          <a:noFill/>
        </p:spPr>
        <p:txBody>
          <a:bodyPr wrap="square">
            <a:spAutoFit/>
          </a:bodyPr>
          <a:lstStyle/>
          <a:p>
            <a:pPr algn="l"/>
            <a:r>
              <a:rPr sz="850" b="1" i="0">
                <a:solidFill>
                  <a:srgbClr val="F85149"/>
                </a:solidFill>
              </a:rPr>
              <a:t>10%</a:t>
            </a:r>
          </a:p>
        </p:txBody>
      </p:sp>
      <p:sp>
        <p:nvSpPr>
          <p:cNvPr id="95" name="Rectangle 94"/>
          <p:cNvSpPr/>
          <p:nvPr/>
        </p:nvSpPr>
        <p:spPr>
          <a:xfrm>
            <a:off x="7278624" y="3236976"/>
            <a:ext cx="4736592" cy="1572768"/>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424927" y="3310128"/>
            <a:ext cx="2743200" cy="201168"/>
          </a:xfrm>
          <a:prstGeom prst="rect">
            <a:avLst/>
          </a:prstGeom>
          <a:noFill/>
        </p:spPr>
        <p:txBody>
          <a:bodyPr wrap="square">
            <a:spAutoFit/>
          </a:bodyPr>
          <a:lstStyle/>
          <a:p>
            <a:pPr algn="l"/>
            <a:r>
              <a:rPr sz="750" b="1" i="0">
                <a:solidFill>
                  <a:srgbClr val="8B949E"/>
                </a:solidFill>
              </a:rPr>
              <a:t>TRAINING CONFIG</a:t>
            </a:r>
          </a:p>
        </p:txBody>
      </p:sp>
      <p:sp>
        <p:nvSpPr>
          <p:cNvPr id="97" name="Rectangle 96"/>
          <p:cNvSpPr/>
          <p:nvPr/>
        </p:nvSpPr>
        <p:spPr>
          <a:xfrm>
            <a:off x="7424927" y="3566160"/>
            <a:ext cx="2157984" cy="365760"/>
          </a:xfrm>
          <a:solidFill>
            <a:srgbClr val="0D1117"/>
          </a:solidFill>
          <a:ln w="508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498079" y="3584448"/>
            <a:ext cx="2048255" cy="146304"/>
          </a:xfrm>
          <a:prstGeom prst="rect">
            <a:avLst/>
          </a:prstGeom>
          <a:noFill/>
        </p:spPr>
        <p:txBody>
          <a:bodyPr wrap="square">
            <a:spAutoFit/>
          </a:bodyPr>
          <a:lstStyle/>
          <a:p>
            <a:pPr algn="l"/>
            <a:r>
              <a:rPr sz="750" b="0" i="0">
                <a:solidFill>
                  <a:srgbClr val="8B949E"/>
                </a:solidFill>
              </a:rPr>
              <a:t>Model</a:t>
            </a:r>
          </a:p>
        </p:txBody>
      </p:sp>
      <p:sp>
        <p:nvSpPr>
          <p:cNvPr id="99" name="TextBox 98"/>
          <p:cNvSpPr txBox="1"/>
          <p:nvPr/>
        </p:nvSpPr>
        <p:spPr>
          <a:xfrm>
            <a:off x="7498079" y="3721608"/>
            <a:ext cx="2048255" cy="164592"/>
          </a:xfrm>
          <a:prstGeom prst="rect">
            <a:avLst/>
          </a:prstGeom>
          <a:noFill/>
        </p:spPr>
        <p:txBody>
          <a:bodyPr wrap="square">
            <a:spAutoFit/>
          </a:bodyPr>
          <a:lstStyle/>
          <a:p>
            <a:pPr algn="l"/>
            <a:r>
              <a:rPr sz="900" b="1" i="0">
                <a:solidFill>
                  <a:srgbClr val="E6EDF3"/>
                </a:solidFill>
              </a:rPr>
              <a:t>Qwen 2.5-0.5B-Instruct</a:t>
            </a:r>
          </a:p>
        </p:txBody>
      </p:sp>
      <p:sp>
        <p:nvSpPr>
          <p:cNvPr id="100" name="Rectangle 99"/>
          <p:cNvSpPr/>
          <p:nvPr/>
        </p:nvSpPr>
        <p:spPr>
          <a:xfrm>
            <a:off x="9674351" y="3566160"/>
            <a:ext cx="2157984" cy="365760"/>
          </a:xfrm>
          <a:solidFill>
            <a:srgbClr val="0D1117"/>
          </a:solidFill>
          <a:ln w="508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747503" y="3584448"/>
            <a:ext cx="2048255" cy="146304"/>
          </a:xfrm>
          <a:prstGeom prst="rect">
            <a:avLst/>
          </a:prstGeom>
          <a:noFill/>
        </p:spPr>
        <p:txBody>
          <a:bodyPr wrap="square">
            <a:spAutoFit/>
          </a:bodyPr>
          <a:lstStyle/>
          <a:p>
            <a:pPr algn="l"/>
            <a:r>
              <a:rPr sz="750" b="0" i="0">
                <a:solidFill>
                  <a:srgbClr val="8B949E"/>
                </a:solidFill>
              </a:rPr>
              <a:t>Algorithm</a:t>
            </a:r>
          </a:p>
        </p:txBody>
      </p:sp>
      <p:sp>
        <p:nvSpPr>
          <p:cNvPr id="102" name="TextBox 101"/>
          <p:cNvSpPr txBox="1"/>
          <p:nvPr/>
        </p:nvSpPr>
        <p:spPr>
          <a:xfrm>
            <a:off x="9747503" y="3721608"/>
            <a:ext cx="2048255" cy="164592"/>
          </a:xfrm>
          <a:prstGeom prst="rect">
            <a:avLst/>
          </a:prstGeom>
          <a:noFill/>
        </p:spPr>
        <p:txBody>
          <a:bodyPr wrap="square">
            <a:spAutoFit/>
          </a:bodyPr>
          <a:lstStyle/>
          <a:p>
            <a:pPr algn="l"/>
            <a:r>
              <a:rPr sz="900" b="1" i="0">
                <a:solidFill>
                  <a:srgbClr val="E6EDF3"/>
                </a:solidFill>
              </a:rPr>
              <a:t>GRPO (TRL GRPOTrainer)</a:t>
            </a:r>
          </a:p>
        </p:txBody>
      </p:sp>
      <p:sp>
        <p:nvSpPr>
          <p:cNvPr id="103" name="Rectangle 102"/>
          <p:cNvSpPr/>
          <p:nvPr/>
        </p:nvSpPr>
        <p:spPr>
          <a:xfrm>
            <a:off x="7424927" y="3968496"/>
            <a:ext cx="2157984" cy="365760"/>
          </a:xfrm>
          <a:solidFill>
            <a:srgbClr val="0D1117"/>
          </a:solidFill>
          <a:ln w="508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498079" y="3986783"/>
            <a:ext cx="2048255" cy="146304"/>
          </a:xfrm>
          <a:prstGeom prst="rect">
            <a:avLst/>
          </a:prstGeom>
          <a:noFill/>
        </p:spPr>
        <p:txBody>
          <a:bodyPr wrap="square">
            <a:spAutoFit/>
          </a:bodyPr>
          <a:lstStyle/>
          <a:p>
            <a:pPr algn="l"/>
            <a:r>
              <a:rPr sz="750" b="0" i="0">
                <a:solidFill>
                  <a:srgbClr val="8B949E"/>
                </a:solidFill>
              </a:rPr>
              <a:t>GPU</a:t>
            </a:r>
          </a:p>
        </p:txBody>
      </p:sp>
      <p:sp>
        <p:nvSpPr>
          <p:cNvPr id="105" name="TextBox 104"/>
          <p:cNvSpPr txBox="1"/>
          <p:nvPr/>
        </p:nvSpPr>
        <p:spPr>
          <a:xfrm>
            <a:off x="7498079" y="4123944"/>
            <a:ext cx="2048255" cy="164592"/>
          </a:xfrm>
          <a:prstGeom prst="rect">
            <a:avLst/>
          </a:prstGeom>
          <a:noFill/>
        </p:spPr>
        <p:txBody>
          <a:bodyPr wrap="square">
            <a:spAutoFit/>
          </a:bodyPr>
          <a:lstStyle/>
          <a:p>
            <a:pPr algn="l"/>
            <a:r>
              <a:rPr sz="900" b="1" i="0">
                <a:solidFill>
                  <a:srgbClr val="E6EDF3"/>
                </a:solidFill>
              </a:rPr>
              <a:t>1× H100 80 GB (Northflank)</a:t>
            </a:r>
          </a:p>
        </p:txBody>
      </p:sp>
      <p:sp>
        <p:nvSpPr>
          <p:cNvPr id="106" name="Rectangle 105"/>
          <p:cNvSpPr/>
          <p:nvPr/>
        </p:nvSpPr>
        <p:spPr>
          <a:xfrm>
            <a:off x="9674351" y="3968496"/>
            <a:ext cx="2157984" cy="365760"/>
          </a:xfrm>
          <a:solidFill>
            <a:srgbClr val="0D1117"/>
          </a:solidFill>
          <a:ln w="508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747503" y="3986783"/>
            <a:ext cx="2048255" cy="146304"/>
          </a:xfrm>
          <a:prstGeom prst="rect">
            <a:avLst/>
          </a:prstGeom>
          <a:noFill/>
        </p:spPr>
        <p:txBody>
          <a:bodyPr wrap="square">
            <a:spAutoFit/>
          </a:bodyPr>
          <a:lstStyle/>
          <a:p>
            <a:pPr algn="l"/>
            <a:r>
              <a:rPr sz="750" b="0" i="0">
                <a:solidFill>
                  <a:srgbClr val="8B949E"/>
                </a:solidFill>
              </a:rPr>
              <a:t>Episodes</a:t>
            </a:r>
          </a:p>
        </p:txBody>
      </p:sp>
      <p:sp>
        <p:nvSpPr>
          <p:cNvPr id="108" name="TextBox 107"/>
          <p:cNvSpPr txBox="1"/>
          <p:nvPr/>
        </p:nvSpPr>
        <p:spPr>
          <a:xfrm>
            <a:off x="9747503" y="4123944"/>
            <a:ext cx="2048255" cy="164592"/>
          </a:xfrm>
          <a:prstGeom prst="rect">
            <a:avLst/>
          </a:prstGeom>
          <a:noFill/>
        </p:spPr>
        <p:txBody>
          <a:bodyPr wrap="square">
            <a:spAutoFit/>
          </a:bodyPr>
          <a:lstStyle/>
          <a:p>
            <a:pPr algn="l"/>
            <a:r>
              <a:rPr sz="900" b="1" i="0">
                <a:solidFill>
                  <a:srgbClr val="E6EDF3"/>
                </a:solidFill>
              </a:rPr>
              <a:t>6 turns per episode</a:t>
            </a:r>
          </a:p>
        </p:txBody>
      </p:sp>
      <p:sp>
        <p:nvSpPr>
          <p:cNvPr id="109" name="Rectangle 108"/>
          <p:cNvSpPr/>
          <p:nvPr/>
        </p:nvSpPr>
        <p:spPr>
          <a:xfrm>
            <a:off x="7424927" y="4370832"/>
            <a:ext cx="2157984" cy="365760"/>
          </a:xfrm>
          <a:solidFill>
            <a:srgbClr val="0D1117"/>
          </a:solidFill>
          <a:ln w="508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498079" y="4389120"/>
            <a:ext cx="2048255" cy="146304"/>
          </a:xfrm>
          <a:prstGeom prst="rect">
            <a:avLst/>
          </a:prstGeom>
          <a:noFill/>
        </p:spPr>
        <p:txBody>
          <a:bodyPr wrap="square">
            <a:spAutoFit/>
          </a:bodyPr>
          <a:lstStyle/>
          <a:p>
            <a:pPr algn="l"/>
            <a:r>
              <a:rPr sz="750" b="0" i="0">
                <a:solidFill>
                  <a:srgbClr val="8B949E"/>
                </a:solidFill>
              </a:rPr>
              <a:t>Dataset</a:t>
            </a:r>
          </a:p>
        </p:txBody>
      </p:sp>
      <p:sp>
        <p:nvSpPr>
          <p:cNvPr id="111" name="TextBox 110"/>
          <p:cNvSpPr txBox="1"/>
          <p:nvPr/>
        </p:nvSpPr>
        <p:spPr>
          <a:xfrm>
            <a:off x="7498079" y="4526280"/>
            <a:ext cx="2048255" cy="164592"/>
          </a:xfrm>
          <a:prstGeom prst="rect">
            <a:avLst/>
          </a:prstGeom>
          <a:noFill/>
        </p:spPr>
        <p:txBody>
          <a:bodyPr wrap="square">
            <a:spAutoFit/>
          </a:bodyPr>
          <a:lstStyle/>
          <a:p>
            <a:pPr algn="l"/>
            <a:r>
              <a:rPr sz="900" b="1" i="0">
                <a:solidFill>
                  <a:srgbClr val="E6EDF3"/>
                </a:solidFill>
              </a:rPr>
              <a:t>256 diverse prompts</a:t>
            </a:r>
          </a:p>
        </p:txBody>
      </p:sp>
      <p:sp>
        <p:nvSpPr>
          <p:cNvPr id="112" name="Rectangle 111"/>
          <p:cNvSpPr/>
          <p:nvPr/>
        </p:nvSpPr>
        <p:spPr>
          <a:xfrm>
            <a:off x="9674351" y="4370832"/>
            <a:ext cx="2157984" cy="365760"/>
          </a:xfrm>
          <a:solidFill>
            <a:srgbClr val="0D1117"/>
          </a:solidFill>
          <a:ln w="508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747503" y="4389120"/>
            <a:ext cx="2048255" cy="146304"/>
          </a:xfrm>
          <a:prstGeom prst="rect">
            <a:avLst/>
          </a:prstGeom>
          <a:noFill/>
        </p:spPr>
        <p:txBody>
          <a:bodyPr wrap="square">
            <a:spAutoFit/>
          </a:bodyPr>
          <a:lstStyle/>
          <a:p>
            <a:pPr algn="l"/>
            <a:r>
              <a:rPr sz="750" b="0" i="0">
                <a:solidFill>
                  <a:srgbClr val="8B949E"/>
                </a:solidFill>
              </a:rPr>
              <a:t>Inference</a:t>
            </a:r>
          </a:p>
        </p:txBody>
      </p:sp>
      <p:sp>
        <p:nvSpPr>
          <p:cNvPr id="114" name="TextBox 113"/>
          <p:cNvSpPr txBox="1"/>
          <p:nvPr/>
        </p:nvSpPr>
        <p:spPr>
          <a:xfrm>
            <a:off x="9747503" y="4526280"/>
            <a:ext cx="2048255" cy="164592"/>
          </a:xfrm>
          <a:prstGeom prst="rect">
            <a:avLst/>
          </a:prstGeom>
          <a:noFill/>
        </p:spPr>
        <p:txBody>
          <a:bodyPr wrap="square">
            <a:spAutoFit/>
          </a:bodyPr>
          <a:lstStyle/>
          <a:p>
            <a:pPr algn="l"/>
            <a:r>
              <a:rPr sz="900" b="1" i="0">
                <a:solidFill>
                  <a:srgbClr val="E6EDF3"/>
                </a:solidFill>
              </a:rPr>
              <a:t>vLLM colocate mode</a:t>
            </a:r>
          </a:p>
        </p:txBody>
      </p:sp>
      <p:sp>
        <p:nvSpPr>
          <p:cNvPr id="115" name="Rectangle 114"/>
          <p:cNvSpPr/>
          <p:nvPr/>
        </p:nvSpPr>
        <p:spPr>
          <a:xfrm>
            <a:off x="7278624" y="4928616"/>
            <a:ext cx="4736592" cy="1298448"/>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24927" y="5001768"/>
            <a:ext cx="3657600" cy="201168"/>
          </a:xfrm>
          <a:prstGeom prst="rect">
            <a:avLst/>
          </a:prstGeom>
          <a:noFill/>
        </p:spPr>
        <p:txBody>
          <a:bodyPr wrap="square">
            <a:spAutoFit/>
          </a:bodyPr>
          <a:lstStyle/>
          <a:p>
            <a:pPr algn="l"/>
            <a:r>
              <a:rPr sz="750" b="1" i="0">
                <a:solidFill>
                  <a:srgbClr val="8B949E"/>
                </a:solidFill>
              </a:rPr>
              <a:t>DEPLOYMENT TARGETS</a:t>
            </a:r>
          </a:p>
        </p:txBody>
      </p:sp>
      <p:sp>
        <p:nvSpPr>
          <p:cNvPr id="117" name="TextBox 116"/>
          <p:cNvSpPr txBox="1"/>
          <p:nvPr/>
        </p:nvSpPr>
        <p:spPr>
          <a:xfrm>
            <a:off x="7424927" y="5221224"/>
            <a:ext cx="4480559" cy="329184"/>
          </a:xfrm>
          <a:prstGeom prst="rect">
            <a:avLst/>
          </a:prstGeom>
          <a:noFill/>
        </p:spPr>
        <p:txBody>
          <a:bodyPr wrap="square">
            <a:spAutoFit/>
          </a:bodyPr>
          <a:lstStyle/>
          <a:p>
            <a:pPr algn="l"/>
            <a:r>
              <a:rPr sz="850" b="0" i="0">
                <a:solidFill>
                  <a:srgbClr val="C9D1D9"/>
                </a:solidFill>
              </a:rPr>
              <a:t>The environment runs 24/7 on HuggingFace Spaces (free tier) so any agent can connect via the REST API. Heavy GPU training runs on Northflank's CoreWeave H100 node.</a:t>
            </a:r>
          </a:p>
        </p:txBody>
      </p:sp>
      <p:sp>
        <p:nvSpPr>
          <p:cNvPr id="118" name="Rectangle 117"/>
          <p:cNvSpPr/>
          <p:nvPr/>
        </p:nvSpPr>
        <p:spPr>
          <a:xfrm>
            <a:off x="7424927" y="5623560"/>
            <a:ext cx="2176272" cy="493776"/>
          </a:xfrm>
          <a:solidFill>
            <a:srgbClr val="0F2B4E"/>
          </a:solidFill>
          <a:ln w="12700">
            <a:solidFill>
              <a:srgbClr val="1F6FEB"/>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498079" y="5660136"/>
            <a:ext cx="2011680" cy="201168"/>
          </a:xfrm>
          <a:prstGeom prst="rect">
            <a:avLst/>
          </a:prstGeom>
          <a:noFill/>
        </p:spPr>
        <p:txBody>
          <a:bodyPr wrap="square">
            <a:spAutoFit/>
          </a:bodyPr>
          <a:lstStyle/>
          <a:p>
            <a:pPr algn="l"/>
            <a:r>
              <a:rPr sz="900" b="1" i="0">
                <a:solidFill>
                  <a:srgbClr val="58A6FF"/>
                </a:solidFill>
              </a:rPr>
              <a:t>🤗  HuggingFace Spaces</a:t>
            </a:r>
          </a:p>
        </p:txBody>
      </p:sp>
      <p:sp>
        <p:nvSpPr>
          <p:cNvPr id="120" name="TextBox 119"/>
          <p:cNvSpPr txBox="1"/>
          <p:nvPr/>
        </p:nvSpPr>
        <p:spPr>
          <a:xfrm>
            <a:off x="7498079" y="5843016"/>
            <a:ext cx="2011680" cy="164592"/>
          </a:xfrm>
          <a:prstGeom prst="rect">
            <a:avLst/>
          </a:prstGeom>
          <a:noFill/>
        </p:spPr>
        <p:txBody>
          <a:bodyPr wrap="square">
            <a:spAutoFit/>
          </a:bodyPr>
          <a:lstStyle/>
          <a:p>
            <a:pPr algn="l"/>
            <a:r>
              <a:rPr sz="800" b="0" i="0">
                <a:solidFill>
                  <a:srgbClr val="8B949E"/>
                </a:solidFill>
              </a:rPr>
              <a:t>kenmandal/market-forge-env</a:t>
            </a:r>
          </a:p>
        </p:txBody>
      </p:sp>
      <p:sp>
        <p:nvSpPr>
          <p:cNvPr id="121" name="Rectangle 120"/>
          <p:cNvSpPr/>
          <p:nvPr/>
        </p:nvSpPr>
        <p:spPr>
          <a:xfrm>
            <a:off x="9710928" y="5623560"/>
            <a:ext cx="2176272" cy="493776"/>
          </a:xfrm>
          <a:solidFill>
            <a:srgbClr val="0A1F1A"/>
          </a:solidFill>
          <a:ln w="12700">
            <a:solidFill>
              <a:srgbClr val="23863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84080" y="5660136"/>
            <a:ext cx="2011680" cy="201168"/>
          </a:xfrm>
          <a:prstGeom prst="rect">
            <a:avLst/>
          </a:prstGeom>
          <a:noFill/>
        </p:spPr>
        <p:txBody>
          <a:bodyPr wrap="square">
            <a:spAutoFit/>
          </a:bodyPr>
          <a:lstStyle/>
          <a:p>
            <a:pPr algn="l"/>
            <a:r>
              <a:rPr sz="900" b="1" i="0">
                <a:solidFill>
                  <a:srgbClr val="3FB950"/>
                </a:solidFill>
              </a:rPr>
              <a:t>☁  Northflank / CoreWeave</a:t>
            </a:r>
          </a:p>
        </p:txBody>
      </p:sp>
      <p:sp>
        <p:nvSpPr>
          <p:cNvPr id="123" name="TextBox 122"/>
          <p:cNvSpPr txBox="1"/>
          <p:nvPr/>
        </p:nvSpPr>
        <p:spPr>
          <a:xfrm>
            <a:off x="9784080" y="5843016"/>
            <a:ext cx="2011680" cy="164592"/>
          </a:xfrm>
          <a:prstGeom prst="rect">
            <a:avLst/>
          </a:prstGeom>
          <a:noFill/>
        </p:spPr>
        <p:txBody>
          <a:bodyPr wrap="square">
            <a:spAutoFit/>
          </a:bodyPr>
          <a:lstStyle/>
          <a:p>
            <a:pPr algn="l"/>
            <a:r>
              <a:rPr sz="800" b="0" i="0">
                <a:solidFill>
                  <a:srgbClr val="8B949E"/>
                </a:solidFill>
              </a:rPr>
              <a:t>openenv-hack-67  ·  1× H100</a:t>
            </a:r>
          </a:p>
        </p:txBody>
      </p:sp>
      <p:sp>
        <p:nvSpPr>
          <p:cNvPr id="124" name="Rectangle 123"/>
          <p:cNvSpPr/>
          <p:nvPr/>
        </p:nvSpPr>
        <p:spPr>
          <a:xfrm>
            <a:off x="0" y="6693408"/>
            <a:ext cx="12188952" cy="18288"/>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82880" y="6711696"/>
            <a:ext cx="11887200" cy="164592"/>
          </a:xfrm>
          <a:prstGeom prst="rect">
            <a:avLst/>
          </a:prstGeom>
          <a:noFill/>
        </p:spPr>
        <p:txBody>
          <a:bodyPr wrap="square">
            <a:spAutoFit/>
          </a:bodyPr>
          <a:lstStyle/>
          <a:p>
            <a:pPr algn="ctr"/>
            <a:r>
              <a:rPr sz="750" b="0" i="0">
                <a:solidFill>
                  <a:srgbClr val="484F58"/>
                </a:solidFill>
              </a:rPr>
              <a:t>Multi-Agent MarketForge  ·  OpenEnv Hackathon  ·  kenmandal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694944"/>
          </a:xfrm>
          <a:solidFill>
            <a:srgbClr val="161B22"/>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94944"/>
          </a:xfrm>
          <a:solidFill>
            <a:srgbClr val="6E40C9"/>
          </a:solidFill>
          <a:ln>
            <a:solidFill>
              <a:srgbClr val="6E40C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2286000" cy="201168"/>
          </a:xfrm>
          <a:prstGeom prst="rect">
            <a:avLst/>
          </a:prstGeom>
          <a:noFill/>
        </p:spPr>
        <p:txBody>
          <a:bodyPr wrap="square">
            <a:spAutoFit/>
          </a:bodyPr>
          <a:lstStyle/>
          <a:p>
            <a:pPr algn="l"/>
            <a:r>
              <a:rPr sz="800" b="1" i="0">
                <a:solidFill>
                  <a:srgbClr val="6E40C9"/>
                </a:solidFill>
              </a:rPr>
              <a:t>SLIDE 2 / 2</a:t>
            </a:r>
          </a:p>
        </p:txBody>
      </p:sp>
      <p:sp>
        <p:nvSpPr>
          <p:cNvPr id="5" name="TextBox 4"/>
          <p:cNvSpPr txBox="1"/>
          <p:nvPr/>
        </p:nvSpPr>
        <p:spPr>
          <a:xfrm>
            <a:off x="182880" y="237744"/>
            <a:ext cx="7772400" cy="329184"/>
          </a:xfrm>
          <a:prstGeom prst="rect">
            <a:avLst/>
          </a:prstGeom>
          <a:noFill/>
        </p:spPr>
        <p:txBody>
          <a:bodyPr wrap="square">
            <a:spAutoFit/>
          </a:bodyPr>
          <a:lstStyle/>
          <a:p>
            <a:pPr algn="l"/>
            <a:r>
              <a:rPr sz="1900" b="1" i="0">
                <a:solidFill>
                  <a:srgbClr val="E6EDF3"/>
                </a:solidFill>
              </a:rPr>
              <a:t>Agentic Interaction Model</a:t>
            </a:r>
          </a:p>
        </p:txBody>
      </p:sp>
      <p:sp>
        <p:nvSpPr>
          <p:cNvPr id="6" name="TextBox 5"/>
          <p:cNvSpPr txBox="1"/>
          <p:nvPr/>
        </p:nvSpPr>
        <p:spPr>
          <a:xfrm>
            <a:off x="182880" y="502920"/>
            <a:ext cx="8686800" cy="201168"/>
          </a:xfrm>
          <a:prstGeom prst="rect">
            <a:avLst/>
          </a:prstGeom>
          <a:noFill/>
        </p:spPr>
        <p:txBody>
          <a:bodyPr wrap="square">
            <a:spAutoFit/>
          </a:bodyPr>
          <a:lstStyle/>
          <a:p>
            <a:pPr algn="l"/>
            <a:r>
              <a:rPr sz="900" b="0" i="0">
                <a:solidFill>
                  <a:srgbClr val="8B949E"/>
                </a:solidFill>
              </a:rPr>
              <a:t>How four agent types cooperate, compete, negotiate, and form coalitions inside the MarketForge market engine</a:t>
            </a:r>
          </a:p>
        </p:txBody>
      </p:sp>
      <p:sp>
        <p:nvSpPr>
          <p:cNvPr id="7" name="TextBox 6"/>
          <p:cNvSpPr txBox="1"/>
          <p:nvPr/>
        </p:nvSpPr>
        <p:spPr>
          <a:xfrm>
            <a:off x="9875520" y="256032"/>
            <a:ext cx="2194560" cy="237744"/>
          </a:xfrm>
          <a:prstGeom prst="rect">
            <a:avLst/>
          </a:prstGeom>
          <a:noFill/>
        </p:spPr>
        <p:txBody>
          <a:bodyPr wrap="square">
            <a:spAutoFit/>
          </a:bodyPr>
          <a:lstStyle/>
          <a:p>
            <a:pPr algn="r"/>
            <a:r>
              <a:rPr sz="850" b="0" i="0">
                <a:solidFill>
                  <a:srgbClr val="8B949E"/>
                </a:solidFill>
              </a:rPr>
              <a:t>Multi-Agent MarketForge</a:t>
            </a:r>
          </a:p>
        </p:txBody>
      </p:sp>
      <p:sp>
        <p:nvSpPr>
          <p:cNvPr id="8" name="Oval 7"/>
          <p:cNvSpPr/>
          <p:nvPr/>
        </p:nvSpPr>
        <p:spPr>
          <a:xfrm>
            <a:off x="2496312" y="3072384"/>
            <a:ext cx="1499616" cy="1499616"/>
          </a:xfrm>
          <a:prstGeom prst="ellipse">
            <a:avLst/>
          </a:prstGeom>
          <a:solidFill>
            <a:srgbClr val="0F2B4E"/>
          </a:solidFill>
          <a:ln w="2540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53512" y="3328415"/>
            <a:ext cx="585216" cy="475488"/>
          </a:xfrm>
          <a:prstGeom prst="rect">
            <a:avLst/>
          </a:prstGeom>
          <a:noFill/>
        </p:spPr>
        <p:txBody>
          <a:bodyPr wrap="square">
            <a:spAutoFit/>
          </a:bodyPr>
          <a:lstStyle/>
          <a:p>
            <a:pPr algn="ctr"/>
            <a:r>
              <a:rPr sz="2200" b="0" i="0">
                <a:solidFill>
                  <a:srgbClr val="E6EDF3"/>
                </a:solidFill>
              </a:rPr>
              <a:t>🏪</a:t>
            </a:r>
          </a:p>
        </p:txBody>
      </p:sp>
      <p:sp>
        <p:nvSpPr>
          <p:cNvPr id="10" name="TextBox 9"/>
          <p:cNvSpPr txBox="1"/>
          <p:nvPr/>
        </p:nvSpPr>
        <p:spPr>
          <a:xfrm>
            <a:off x="2587752" y="3785615"/>
            <a:ext cx="1316736" cy="237744"/>
          </a:xfrm>
          <a:prstGeom prst="rect">
            <a:avLst/>
          </a:prstGeom>
          <a:noFill/>
        </p:spPr>
        <p:txBody>
          <a:bodyPr wrap="square">
            <a:spAutoFit/>
          </a:bodyPr>
          <a:lstStyle/>
          <a:p>
            <a:pPr algn="ctr"/>
            <a:r>
              <a:rPr sz="1000" b="1" i="0">
                <a:solidFill>
                  <a:srgbClr val="E6EDF3"/>
                </a:solidFill>
              </a:rPr>
              <a:t>MarketForge</a:t>
            </a:r>
          </a:p>
        </p:txBody>
      </p:sp>
      <p:sp>
        <p:nvSpPr>
          <p:cNvPr id="11" name="TextBox 10"/>
          <p:cNvSpPr txBox="1"/>
          <p:nvPr/>
        </p:nvSpPr>
        <p:spPr>
          <a:xfrm>
            <a:off x="2587752" y="4005072"/>
            <a:ext cx="1316736" cy="182880"/>
          </a:xfrm>
          <a:prstGeom prst="rect">
            <a:avLst/>
          </a:prstGeom>
          <a:noFill/>
        </p:spPr>
        <p:txBody>
          <a:bodyPr wrap="square">
            <a:spAutoFit/>
          </a:bodyPr>
          <a:lstStyle/>
          <a:p>
            <a:pPr algn="ctr"/>
            <a:r>
              <a:rPr sz="850" b="0" i="0">
                <a:solidFill>
                  <a:srgbClr val="58A6FF"/>
                </a:solidFill>
              </a:rPr>
              <a:t>Market Engine</a:t>
            </a:r>
          </a:p>
        </p:txBody>
      </p:sp>
      <p:sp>
        <p:nvSpPr>
          <p:cNvPr id="12" name="TextBox 11"/>
          <p:cNvSpPr txBox="1"/>
          <p:nvPr/>
        </p:nvSpPr>
        <p:spPr>
          <a:xfrm>
            <a:off x="2514600" y="4187952"/>
            <a:ext cx="1463040" cy="182880"/>
          </a:xfrm>
          <a:prstGeom prst="rect">
            <a:avLst/>
          </a:prstGeom>
          <a:noFill/>
        </p:spPr>
        <p:txBody>
          <a:bodyPr wrap="square">
            <a:spAutoFit/>
          </a:bodyPr>
          <a:lstStyle/>
          <a:p>
            <a:pPr algn="ctr"/>
            <a:r>
              <a:rPr sz="750" b="0" i="0">
                <a:solidFill>
                  <a:srgbClr val="8B949E"/>
                </a:solidFill>
              </a:rPr>
              <a:t>CDA · Events · Rewards</a:t>
            </a:r>
          </a:p>
        </p:txBody>
      </p:sp>
      <p:sp>
        <p:nvSpPr>
          <p:cNvPr id="13" name="Rectangle 12"/>
          <p:cNvSpPr/>
          <p:nvPr/>
        </p:nvSpPr>
        <p:spPr>
          <a:xfrm>
            <a:off x="201168" y="1005840"/>
            <a:ext cx="1554480" cy="1444752"/>
          </a:xfrm>
          <a:solidFill>
            <a:srgbClr val="161B22"/>
          </a:solidFill>
          <a:ln w="19050">
            <a:solidFill>
              <a:srgbClr val="23863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608" y="1097280"/>
            <a:ext cx="347472" cy="347472"/>
          </a:xfrm>
          <a:solidFill>
            <a:srgbClr val="0A2110"/>
          </a:solidFill>
          <a:ln w="10160">
            <a:solidFill>
              <a:srgbClr val="23863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078992"/>
            <a:ext cx="347472" cy="347472"/>
          </a:xfrm>
          <a:prstGeom prst="rect">
            <a:avLst/>
          </a:prstGeom>
          <a:noFill/>
        </p:spPr>
        <p:txBody>
          <a:bodyPr wrap="square">
            <a:spAutoFit/>
          </a:bodyPr>
          <a:lstStyle/>
          <a:p>
            <a:pPr algn="ctr"/>
            <a:r>
              <a:rPr sz="1500" b="0" i="0">
                <a:solidFill>
                  <a:srgbClr val="E6EDF3"/>
                </a:solidFill>
              </a:rPr>
              <a:t>🌾</a:t>
            </a:r>
          </a:p>
        </p:txBody>
      </p:sp>
      <p:sp>
        <p:nvSpPr>
          <p:cNvPr id="16" name="TextBox 15"/>
          <p:cNvSpPr txBox="1"/>
          <p:nvPr/>
        </p:nvSpPr>
        <p:spPr>
          <a:xfrm>
            <a:off x="694944" y="1097280"/>
            <a:ext cx="987552" cy="219456"/>
          </a:xfrm>
          <a:prstGeom prst="rect">
            <a:avLst/>
          </a:prstGeom>
          <a:noFill/>
        </p:spPr>
        <p:txBody>
          <a:bodyPr wrap="square">
            <a:spAutoFit/>
          </a:bodyPr>
          <a:lstStyle/>
          <a:p>
            <a:pPr algn="l"/>
            <a:r>
              <a:rPr sz="1050" b="1" i="0">
                <a:solidFill>
                  <a:srgbClr val="E6EDF3"/>
                </a:solidFill>
              </a:rPr>
              <a:t>Producer</a:t>
            </a:r>
          </a:p>
        </p:txBody>
      </p:sp>
      <p:sp>
        <p:nvSpPr>
          <p:cNvPr id="17" name="TextBox 16"/>
          <p:cNvSpPr txBox="1"/>
          <p:nvPr/>
        </p:nvSpPr>
        <p:spPr>
          <a:xfrm>
            <a:off x="694944" y="1298448"/>
            <a:ext cx="987552" cy="201168"/>
          </a:xfrm>
          <a:prstGeom prst="rect">
            <a:avLst/>
          </a:prstGeom>
          <a:noFill/>
        </p:spPr>
        <p:txBody>
          <a:bodyPr wrap="square">
            <a:spAutoFit/>
          </a:bodyPr>
          <a:lstStyle/>
          <a:p>
            <a:pPr algn="l"/>
            <a:r>
              <a:rPr sz="850" b="0" i="0">
                <a:solidFill>
                  <a:srgbClr val="8B949E"/>
                </a:solidFill>
              </a:rPr>
              <a:t>Wheat · Iron · Timber · Oil</a:t>
            </a:r>
          </a:p>
        </p:txBody>
      </p:sp>
      <p:sp>
        <p:nvSpPr>
          <p:cNvPr id="18" name="TextBox 17"/>
          <p:cNvSpPr txBox="1"/>
          <p:nvPr/>
        </p:nvSpPr>
        <p:spPr>
          <a:xfrm>
            <a:off x="292608" y="1609344"/>
            <a:ext cx="1408176" cy="384048"/>
          </a:xfrm>
          <a:prstGeom prst="rect">
            <a:avLst/>
          </a:prstGeom>
          <a:noFill/>
        </p:spPr>
        <p:txBody>
          <a:bodyPr wrap="square">
            <a:spAutoFit/>
          </a:bodyPr>
          <a:lstStyle/>
          <a:p>
            <a:pPr algn="l"/>
            <a:r>
              <a:rPr sz="800" b="0" i="1">
                <a:solidFill>
                  <a:srgbClr val="C9D1D9"/>
                </a:solidFill>
              </a:rPr>
              <a:t>Needed because compound goods can't exist without raw inputs. Keeps supply flowing and sets baseline prices through competition.</a:t>
            </a:r>
          </a:p>
        </p:txBody>
      </p:sp>
      <p:sp>
        <p:nvSpPr>
          <p:cNvPr id="19" name="Rectangle 18"/>
          <p:cNvSpPr/>
          <p:nvPr/>
        </p:nvSpPr>
        <p:spPr>
          <a:xfrm>
            <a:off x="292608" y="2212848"/>
            <a:ext cx="1408176" cy="182880"/>
          </a:xfrm>
          <a:solidFill>
            <a:srgbClr val="0A2110"/>
          </a:solidFill>
          <a:ln w="6350">
            <a:solidFill>
              <a:srgbClr val="238636"/>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231136"/>
            <a:ext cx="1298448" cy="164592"/>
          </a:xfrm>
          <a:prstGeom prst="rect">
            <a:avLst/>
          </a:prstGeom>
          <a:noFill/>
        </p:spPr>
        <p:txBody>
          <a:bodyPr wrap="square">
            <a:spAutoFit/>
          </a:bodyPr>
          <a:lstStyle/>
          <a:p>
            <a:pPr algn="l"/>
            <a:r>
              <a:rPr sz="800" b="1" i="0">
                <a:solidFill>
                  <a:srgbClr val="3FB950"/>
                </a:solidFill>
              </a:rPr>
              <a:t>Sell raw commodities on the open market</a:t>
            </a:r>
          </a:p>
        </p:txBody>
      </p:sp>
      <p:sp>
        <p:nvSpPr>
          <p:cNvPr id="21" name="Rectangle 20"/>
          <p:cNvSpPr/>
          <p:nvPr/>
        </p:nvSpPr>
        <p:spPr>
          <a:xfrm>
            <a:off x="4553712" y="1005840"/>
            <a:ext cx="1554480" cy="1444752"/>
          </a:xfrm>
          <a:solidFill>
            <a:srgbClr val="161B22"/>
          </a:solidFill>
          <a:ln w="19050">
            <a:solidFill>
              <a:srgbClr val="6E40C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45152" y="1097280"/>
            <a:ext cx="347472" cy="347472"/>
          </a:xfrm>
          <a:solidFill>
            <a:srgbClr val="1A0F3D"/>
          </a:solidFill>
          <a:ln w="10160">
            <a:solidFill>
              <a:srgbClr val="6E40C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2" y="1078992"/>
            <a:ext cx="347472" cy="347472"/>
          </a:xfrm>
          <a:prstGeom prst="rect">
            <a:avLst/>
          </a:prstGeom>
          <a:noFill/>
        </p:spPr>
        <p:txBody>
          <a:bodyPr wrap="square">
            <a:spAutoFit/>
          </a:bodyPr>
          <a:lstStyle/>
          <a:p>
            <a:pPr algn="ctr"/>
            <a:r>
              <a:rPr sz="1500" b="0" i="0">
                <a:solidFill>
                  <a:srgbClr val="E6EDF3"/>
                </a:solidFill>
              </a:rPr>
              <a:t>🏭</a:t>
            </a:r>
          </a:p>
        </p:txBody>
      </p:sp>
      <p:sp>
        <p:nvSpPr>
          <p:cNvPr id="24" name="TextBox 23"/>
          <p:cNvSpPr txBox="1"/>
          <p:nvPr/>
        </p:nvSpPr>
        <p:spPr>
          <a:xfrm>
            <a:off x="5047488" y="1097280"/>
            <a:ext cx="987552" cy="219456"/>
          </a:xfrm>
          <a:prstGeom prst="rect">
            <a:avLst/>
          </a:prstGeom>
          <a:noFill/>
        </p:spPr>
        <p:txBody>
          <a:bodyPr wrap="square">
            <a:spAutoFit/>
          </a:bodyPr>
          <a:lstStyle/>
          <a:p>
            <a:pPr algn="l"/>
            <a:r>
              <a:rPr sz="1050" b="1" i="0">
                <a:solidFill>
                  <a:srgbClr val="E6EDF3"/>
                </a:solidFill>
              </a:rPr>
              <a:t>Consumer</a:t>
            </a:r>
          </a:p>
        </p:txBody>
      </p:sp>
      <p:sp>
        <p:nvSpPr>
          <p:cNvPr id="25" name="TextBox 24"/>
          <p:cNvSpPr txBox="1"/>
          <p:nvPr/>
        </p:nvSpPr>
        <p:spPr>
          <a:xfrm>
            <a:off x="5047488" y="1298448"/>
            <a:ext cx="987552" cy="201168"/>
          </a:xfrm>
          <a:prstGeom prst="rect">
            <a:avLst/>
          </a:prstGeom>
          <a:noFill/>
        </p:spPr>
        <p:txBody>
          <a:bodyPr wrap="square">
            <a:spAutoFit/>
          </a:bodyPr>
          <a:lstStyle/>
          <a:p>
            <a:pPr algn="l"/>
            <a:r>
              <a:rPr sz="850" b="0" i="0">
                <a:solidFill>
                  <a:srgbClr val="8B949E"/>
                </a:solidFill>
              </a:rPr>
              <a:t>Bread · Tools · Furniture</a:t>
            </a:r>
          </a:p>
        </p:txBody>
      </p:sp>
      <p:sp>
        <p:nvSpPr>
          <p:cNvPr id="26" name="TextBox 25"/>
          <p:cNvSpPr txBox="1"/>
          <p:nvPr/>
        </p:nvSpPr>
        <p:spPr>
          <a:xfrm>
            <a:off x="4645152" y="1609344"/>
            <a:ext cx="1408176" cy="384048"/>
          </a:xfrm>
          <a:prstGeom prst="rect">
            <a:avLst/>
          </a:prstGeom>
          <a:noFill/>
        </p:spPr>
        <p:txBody>
          <a:bodyPr wrap="square">
            <a:spAutoFit/>
          </a:bodyPr>
          <a:lstStyle/>
          <a:p>
            <a:pPr algn="l"/>
            <a:r>
              <a:rPr sz="800" b="0" i="1">
                <a:solidFill>
                  <a:srgbClr val="C9D1D9"/>
                </a:solidFill>
              </a:rPr>
              <a:t>Needed to create value beyond raw commodities. Drives cooperation by sourcing inputs from Producers via negotiation.</a:t>
            </a:r>
          </a:p>
        </p:txBody>
      </p:sp>
      <p:sp>
        <p:nvSpPr>
          <p:cNvPr id="27" name="Rectangle 26"/>
          <p:cNvSpPr/>
          <p:nvPr/>
        </p:nvSpPr>
        <p:spPr>
          <a:xfrm>
            <a:off x="4645152" y="2212848"/>
            <a:ext cx="1408176" cy="182880"/>
          </a:xfrm>
          <a:solidFill>
            <a:srgbClr val="1A0F3D"/>
          </a:solidFill>
          <a:ln w="6350">
            <a:solidFill>
              <a:srgbClr val="6E40C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18304" y="2231136"/>
            <a:ext cx="1298448" cy="164592"/>
          </a:xfrm>
          <a:prstGeom prst="rect">
            <a:avLst/>
          </a:prstGeom>
          <a:noFill/>
        </p:spPr>
        <p:txBody>
          <a:bodyPr wrap="square">
            <a:spAutoFit/>
          </a:bodyPr>
          <a:lstStyle/>
          <a:p>
            <a:pPr algn="l"/>
            <a:r>
              <a:rPr sz="800" b="1" i="0">
                <a:solidFill>
                  <a:srgbClr val="BC8CFF"/>
                </a:solidFill>
              </a:rPr>
              <a:t>Buy ingredients, produce &amp; sell compound goods</a:t>
            </a:r>
          </a:p>
        </p:txBody>
      </p:sp>
      <p:sp>
        <p:nvSpPr>
          <p:cNvPr id="29" name="Rectangle 28"/>
          <p:cNvSpPr/>
          <p:nvPr/>
        </p:nvSpPr>
        <p:spPr>
          <a:xfrm>
            <a:off x="201168" y="5138928"/>
            <a:ext cx="1554480" cy="1444752"/>
          </a:xfrm>
          <a:solidFill>
            <a:srgbClr val="161B22"/>
          </a:solidFill>
          <a:ln w="19050">
            <a:solidFill>
              <a:srgbClr val="9E600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2608" y="5230368"/>
            <a:ext cx="347472" cy="347472"/>
          </a:xfrm>
          <a:solidFill>
            <a:srgbClr val="2B1A00"/>
          </a:solidFill>
          <a:ln w="10160">
            <a:solidFill>
              <a:srgbClr val="9E600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5212080"/>
            <a:ext cx="347472" cy="347472"/>
          </a:xfrm>
          <a:prstGeom prst="rect">
            <a:avLst/>
          </a:prstGeom>
          <a:noFill/>
        </p:spPr>
        <p:txBody>
          <a:bodyPr wrap="square">
            <a:spAutoFit/>
          </a:bodyPr>
          <a:lstStyle/>
          <a:p>
            <a:pPr algn="ctr"/>
            <a:r>
              <a:rPr sz="1500" b="0" i="0">
                <a:solidFill>
                  <a:srgbClr val="E6EDF3"/>
                </a:solidFill>
              </a:rPr>
              <a:t>📊</a:t>
            </a:r>
          </a:p>
        </p:txBody>
      </p:sp>
      <p:sp>
        <p:nvSpPr>
          <p:cNvPr id="32" name="TextBox 31"/>
          <p:cNvSpPr txBox="1"/>
          <p:nvPr/>
        </p:nvSpPr>
        <p:spPr>
          <a:xfrm>
            <a:off x="694944" y="5230368"/>
            <a:ext cx="987552" cy="219456"/>
          </a:xfrm>
          <a:prstGeom prst="rect">
            <a:avLst/>
          </a:prstGeom>
          <a:noFill/>
        </p:spPr>
        <p:txBody>
          <a:bodyPr wrap="square">
            <a:spAutoFit/>
          </a:bodyPr>
          <a:lstStyle/>
          <a:p>
            <a:pPr algn="l"/>
            <a:r>
              <a:rPr sz="1050" b="1" i="0">
                <a:solidFill>
                  <a:srgbClr val="E6EDF3"/>
                </a:solidFill>
              </a:rPr>
              <a:t>Trader</a:t>
            </a:r>
          </a:p>
        </p:txBody>
      </p:sp>
      <p:sp>
        <p:nvSpPr>
          <p:cNvPr id="33" name="TextBox 32"/>
          <p:cNvSpPr txBox="1"/>
          <p:nvPr/>
        </p:nvSpPr>
        <p:spPr>
          <a:xfrm>
            <a:off x="694944" y="5431536"/>
            <a:ext cx="987552" cy="201168"/>
          </a:xfrm>
          <a:prstGeom prst="rect">
            <a:avLst/>
          </a:prstGeom>
          <a:noFill/>
        </p:spPr>
        <p:txBody>
          <a:bodyPr wrap="square">
            <a:spAutoFit/>
          </a:bodyPr>
          <a:lstStyle/>
          <a:p>
            <a:pPr algn="l"/>
            <a:r>
              <a:rPr sz="850" b="0" i="0">
                <a:solidFill>
                  <a:srgbClr val="8B949E"/>
                </a:solidFill>
              </a:rPr>
              <a:t>Arbitrage · Spread capture</a:t>
            </a:r>
          </a:p>
        </p:txBody>
      </p:sp>
      <p:sp>
        <p:nvSpPr>
          <p:cNvPr id="34" name="TextBox 33"/>
          <p:cNvSpPr txBox="1"/>
          <p:nvPr/>
        </p:nvSpPr>
        <p:spPr>
          <a:xfrm>
            <a:off x="292608" y="5742432"/>
            <a:ext cx="1408176" cy="384048"/>
          </a:xfrm>
          <a:prstGeom prst="rect">
            <a:avLst/>
          </a:prstGeom>
          <a:noFill/>
        </p:spPr>
        <p:txBody>
          <a:bodyPr wrap="square">
            <a:spAutoFit/>
          </a:bodyPr>
          <a:lstStyle/>
          <a:p>
            <a:pPr algn="l"/>
            <a:r>
              <a:rPr sz="800" b="0" i="1">
                <a:solidFill>
                  <a:srgbClr val="C9D1D9"/>
                </a:solidFill>
              </a:rPr>
              <a:t>Needed to keep prices efficient across the market. Profits from price gaps and forms coalitions for bulk discounts.</a:t>
            </a:r>
          </a:p>
        </p:txBody>
      </p:sp>
      <p:sp>
        <p:nvSpPr>
          <p:cNvPr id="35" name="Rectangle 34"/>
          <p:cNvSpPr/>
          <p:nvPr/>
        </p:nvSpPr>
        <p:spPr>
          <a:xfrm>
            <a:off x="292608" y="6345936"/>
            <a:ext cx="1408176" cy="182880"/>
          </a:xfrm>
          <a:solidFill>
            <a:srgbClr val="2B1A00"/>
          </a:solidFill>
          <a:ln w="6350">
            <a:solidFill>
              <a:srgbClr val="9E600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6364224"/>
            <a:ext cx="1298448" cy="164592"/>
          </a:xfrm>
          <a:prstGeom prst="rect">
            <a:avLst/>
          </a:prstGeom>
          <a:noFill/>
        </p:spPr>
        <p:txBody>
          <a:bodyPr wrap="square">
            <a:spAutoFit/>
          </a:bodyPr>
          <a:lstStyle/>
          <a:p>
            <a:pPr algn="l"/>
            <a:r>
              <a:rPr sz="800" b="1" i="0">
                <a:solidFill>
                  <a:srgbClr val="D29922"/>
                </a:solidFill>
              </a:rPr>
              <a:t>Buy low from Producers, sell high to Consumers</a:t>
            </a:r>
          </a:p>
        </p:txBody>
      </p:sp>
      <p:sp>
        <p:nvSpPr>
          <p:cNvPr id="37" name="Rectangle 36"/>
          <p:cNvSpPr/>
          <p:nvPr/>
        </p:nvSpPr>
        <p:spPr>
          <a:xfrm>
            <a:off x="4553712" y="5138928"/>
            <a:ext cx="1554480" cy="1444752"/>
          </a:xfrm>
          <a:solidFill>
            <a:srgbClr val="161B22"/>
          </a:solidFill>
          <a:ln w="19050">
            <a:solidFill>
              <a:srgbClr val="DA3633"/>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645152" y="5230368"/>
            <a:ext cx="347472" cy="347472"/>
          </a:xfrm>
          <a:solidFill>
            <a:srgbClr val="250A0A"/>
          </a:solidFill>
          <a:ln w="10160">
            <a:solidFill>
              <a:srgbClr val="DA3633"/>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5152" y="5212080"/>
            <a:ext cx="347472" cy="347472"/>
          </a:xfrm>
          <a:prstGeom prst="rect">
            <a:avLst/>
          </a:prstGeom>
          <a:noFill/>
        </p:spPr>
        <p:txBody>
          <a:bodyPr wrap="square">
            <a:spAutoFit/>
          </a:bodyPr>
          <a:lstStyle/>
          <a:p>
            <a:pPr algn="ctr"/>
            <a:r>
              <a:rPr sz="1500" b="0" i="0">
                <a:solidFill>
                  <a:srgbClr val="E6EDF3"/>
                </a:solidFill>
              </a:rPr>
              <a:t>🎯</a:t>
            </a:r>
          </a:p>
        </p:txBody>
      </p:sp>
      <p:sp>
        <p:nvSpPr>
          <p:cNvPr id="40" name="TextBox 39"/>
          <p:cNvSpPr txBox="1"/>
          <p:nvPr/>
        </p:nvSpPr>
        <p:spPr>
          <a:xfrm>
            <a:off x="5047488" y="5230368"/>
            <a:ext cx="987552" cy="219456"/>
          </a:xfrm>
          <a:prstGeom prst="rect">
            <a:avLst/>
          </a:prstGeom>
          <a:noFill/>
        </p:spPr>
        <p:txBody>
          <a:bodyPr wrap="square">
            <a:spAutoFit/>
          </a:bodyPr>
          <a:lstStyle/>
          <a:p>
            <a:pPr algn="l"/>
            <a:r>
              <a:rPr sz="1050" b="1" i="0">
                <a:solidFill>
                  <a:srgbClr val="E6EDF3"/>
                </a:solidFill>
              </a:rPr>
              <a:t>Speculator</a:t>
            </a:r>
          </a:p>
        </p:txBody>
      </p:sp>
      <p:sp>
        <p:nvSpPr>
          <p:cNvPr id="41" name="TextBox 40"/>
          <p:cNvSpPr txBox="1"/>
          <p:nvPr/>
        </p:nvSpPr>
        <p:spPr>
          <a:xfrm>
            <a:off x="5047488" y="5431536"/>
            <a:ext cx="987552" cy="201168"/>
          </a:xfrm>
          <a:prstGeom prst="rect">
            <a:avLst/>
          </a:prstGeom>
          <a:noFill/>
        </p:spPr>
        <p:txBody>
          <a:bodyPr wrap="square">
            <a:spAutoFit/>
          </a:bodyPr>
          <a:lstStyle/>
          <a:p>
            <a:pPr algn="l"/>
            <a:r>
              <a:rPr sz="850" b="0" i="0">
                <a:solidFill>
                  <a:srgbClr val="8B949E"/>
                </a:solidFill>
              </a:rPr>
              <a:t>Event-driven positions</a:t>
            </a:r>
          </a:p>
        </p:txBody>
      </p:sp>
      <p:sp>
        <p:nvSpPr>
          <p:cNvPr id="42" name="TextBox 41"/>
          <p:cNvSpPr txBox="1"/>
          <p:nvPr/>
        </p:nvSpPr>
        <p:spPr>
          <a:xfrm>
            <a:off x="4645152" y="5742432"/>
            <a:ext cx="1408176" cy="384048"/>
          </a:xfrm>
          <a:prstGeom prst="rect">
            <a:avLst/>
          </a:prstGeom>
          <a:noFill/>
        </p:spPr>
        <p:txBody>
          <a:bodyPr wrap="square">
            <a:spAutoFit/>
          </a:bodyPr>
          <a:lstStyle/>
          <a:p>
            <a:pPr algn="l"/>
            <a:r>
              <a:rPr sz="800" b="0" i="1">
                <a:solidFill>
                  <a:srgbClr val="C9D1D9"/>
                </a:solidFill>
              </a:rPr>
              <a:t>Needed to test the agent's theory-of-mind reasoning. Reacts to news (droughts, embargoes) before prices move.</a:t>
            </a:r>
          </a:p>
        </p:txBody>
      </p:sp>
      <p:sp>
        <p:nvSpPr>
          <p:cNvPr id="43" name="Rectangle 42"/>
          <p:cNvSpPr/>
          <p:nvPr/>
        </p:nvSpPr>
        <p:spPr>
          <a:xfrm>
            <a:off x="4645152" y="6345936"/>
            <a:ext cx="1408176" cy="182880"/>
          </a:xfrm>
          <a:solidFill>
            <a:srgbClr val="250A0A"/>
          </a:solidFill>
          <a:ln w="6350">
            <a:solidFill>
              <a:srgbClr val="DA3633"/>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18304" y="6364224"/>
            <a:ext cx="1298448" cy="164592"/>
          </a:xfrm>
          <a:prstGeom prst="rect">
            <a:avLst/>
          </a:prstGeom>
          <a:noFill/>
        </p:spPr>
        <p:txBody>
          <a:bodyPr wrap="square">
            <a:spAutoFit/>
          </a:bodyPr>
          <a:lstStyle/>
          <a:p>
            <a:pPr algn="l"/>
            <a:r>
              <a:rPr sz="800" b="1" i="0">
                <a:solidFill>
                  <a:srgbClr val="F85149"/>
                </a:solidFill>
              </a:rPr>
              <a:t>Anticipate price shocks from market events</a:t>
            </a:r>
          </a:p>
        </p:txBody>
      </p:sp>
      <p:cxnSp>
        <p:nvCxnSpPr>
          <p:cNvPr id="45" name="Connector 44"/>
          <p:cNvCxnSpPr/>
          <p:nvPr/>
        </p:nvCxnSpPr>
        <p:spPr>
          <a:xfrm>
            <a:off x="1755648" y="1728216"/>
            <a:ext cx="832104" cy="1655063"/>
          </a:xfrm>
          <a:prstGeom prst="line">
            <a:avLst/>
          </a:prstGeom>
          <a:ln w="17780">
            <a:solidFill>
              <a:srgbClr val="3FB950"/>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591056" y="2340864"/>
            <a:ext cx="1097280" cy="182880"/>
          </a:xfrm>
          <a:prstGeom prst="rect">
            <a:avLst/>
          </a:prstGeom>
          <a:noFill/>
        </p:spPr>
        <p:txBody>
          <a:bodyPr wrap="square">
            <a:spAutoFit/>
          </a:bodyPr>
          <a:lstStyle/>
          <a:p>
            <a:pPr algn="l"/>
            <a:r>
              <a:rPr sz="800" b="1" i="0">
                <a:solidFill>
                  <a:srgbClr val="3FB950"/>
                </a:solidFill>
              </a:rPr>
              <a:t>sell orders</a:t>
            </a:r>
          </a:p>
        </p:txBody>
      </p:sp>
      <p:cxnSp>
        <p:nvCxnSpPr>
          <p:cNvPr id="47" name="Connector 46"/>
          <p:cNvCxnSpPr/>
          <p:nvPr/>
        </p:nvCxnSpPr>
        <p:spPr>
          <a:xfrm flipH="1">
            <a:off x="3904487" y="1728216"/>
            <a:ext cx="649225" cy="1655063"/>
          </a:xfrm>
          <a:prstGeom prst="line">
            <a:avLst/>
          </a:prstGeom>
          <a:ln w="17780">
            <a:solidFill>
              <a:srgbClr val="BC8CFF"/>
            </a:solidFill>
            <a:prstDash val="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657600" y="2340864"/>
            <a:ext cx="1097280" cy="182880"/>
          </a:xfrm>
          <a:prstGeom prst="rect">
            <a:avLst/>
          </a:prstGeom>
          <a:noFill/>
        </p:spPr>
        <p:txBody>
          <a:bodyPr wrap="square">
            <a:spAutoFit/>
          </a:bodyPr>
          <a:lstStyle/>
          <a:p>
            <a:pPr algn="l"/>
            <a:r>
              <a:rPr sz="800" b="1" i="0">
                <a:solidFill>
                  <a:srgbClr val="BC8CFF"/>
                </a:solidFill>
              </a:rPr>
              <a:t>buy orders</a:t>
            </a:r>
          </a:p>
        </p:txBody>
      </p:sp>
      <p:cxnSp>
        <p:nvCxnSpPr>
          <p:cNvPr id="49" name="Connector 48"/>
          <p:cNvCxnSpPr/>
          <p:nvPr/>
        </p:nvCxnSpPr>
        <p:spPr>
          <a:xfrm flipV="1">
            <a:off x="1755648" y="4261104"/>
            <a:ext cx="832104" cy="1243584"/>
          </a:xfrm>
          <a:prstGeom prst="line">
            <a:avLst/>
          </a:prstGeom>
          <a:ln w="17780">
            <a:solidFill>
              <a:srgbClr val="D29922"/>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682496" y="4809744"/>
            <a:ext cx="1005840" cy="182880"/>
          </a:xfrm>
          <a:prstGeom prst="rect">
            <a:avLst/>
          </a:prstGeom>
          <a:noFill/>
        </p:spPr>
        <p:txBody>
          <a:bodyPr wrap="square">
            <a:spAutoFit/>
          </a:bodyPr>
          <a:lstStyle/>
          <a:p>
            <a:pPr algn="l"/>
            <a:r>
              <a:rPr sz="800" b="1" i="0">
                <a:solidFill>
                  <a:srgbClr val="D29922"/>
                </a:solidFill>
              </a:rPr>
              <a:t>arbitrage</a:t>
            </a:r>
          </a:p>
        </p:txBody>
      </p:sp>
      <p:cxnSp>
        <p:nvCxnSpPr>
          <p:cNvPr id="51" name="Connector 50"/>
          <p:cNvCxnSpPr/>
          <p:nvPr/>
        </p:nvCxnSpPr>
        <p:spPr>
          <a:xfrm flipH="1" flipV="1">
            <a:off x="3904487" y="4261104"/>
            <a:ext cx="649225" cy="1243584"/>
          </a:xfrm>
          <a:prstGeom prst="line">
            <a:avLst/>
          </a:prstGeom>
          <a:ln w="17780">
            <a:solidFill>
              <a:srgbClr val="F85149"/>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621024" y="4809744"/>
            <a:ext cx="1097280" cy="182880"/>
          </a:xfrm>
          <a:prstGeom prst="rect">
            <a:avLst/>
          </a:prstGeom>
          <a:noFill/>
        </p:spPr>
        <p:txBody>
          <a:bodyPr wrap="square">
            <a:spAutoFit/>
          </a:bodyPr>
          <a:lstStyle/>
          <a:p>
            <a:pPr algn="l"/>
            <a:r>
              <a:rPr sz="800" b="1" i="0">
                <a:solidFill>
                  <a:srgbClr val="F85149"/>
                </a:solidFill>
              </a:rPr>
              <a:t>event bets</a:t>
            </a:r>
          </a:p>
        </p:txBody>
      </p:sp>
      <p:cxnSp>
        <p:nvCxnSpPr>
          <p:cNvPr id="53" name="Connector 52"/>
          <p:cNvCxnSpPr/>
          <p:nvPr/>
        </p:nvCxnSpPr>
        <p:spPr>
          <a:xfrm>
            <a:off x="1755648" y="1371600"/>
            <a:ext cx="2798064" cy="0"/>
          </a:xfrm>
          <a:prstGeom prst="line">
            <a:avLst/>
          </a:prstGeom>
          <a:ln w="15240">
            <a:solidFill>
              <a:srgbClr val="58A6FF"/>
            </a:solidFill>
            <a:prstDash val="dash"/>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773936" y="969264"/>
            <a:ext cx="2670048" cy="201168"/>
          </a:xfrm>
          <a:prstGeom prst="rect">
            <a:avLst/>
          </a:prstGeom>
          <a:noFill/>
        </p:spPr>
        <p:txBody>
          <a:bodyPr wrap="square">
            <a:spAutoFit/>
          </a:bodyPr>
          <a:lstStyle/>
          <a:p>
            <a:pPr algn="ctr"/>
            <a:r>
              <a:rPr sz="800" b="1" i="0">
                <a:solidFill>
                  <a:srgbClr val="58A6FF"/>
                </a:solidFill>
              </a:rPr>
              <a:t>💬 negotiate deals  (Producer ↔ Consumer)</a:t>
            </a:r>
          </a:p>
        </p:txBody>
      </p:sp>
      <p:cxnSp>
        <p:nvCxnSpPr>
          <p:cNvPr id="55" name="Connector 54"/>
          <p:cNvCxnSpPr/>
          <p:nvPr/>
        </p:nvCxnSpPr>
        <p:spPr>
          <a:xfrm>
            <a:off x="1755648" y="5961888"/>
            <a:ext cx="2798064" cy="0"/>
          </a:xfrm>
          <a:prstGeom prst="line">
            <a:avLst/>
          </a:prstGeom>
          <a:ln w="15240">
            <a:solidFill>
              <a:srgbClr val="58A6FF"/>
            </a:solidFill>
            <a:prstDash val="dash"/>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773936" y="6254496"/>
            <a:ext cx="2670048" cy="201168"/>
          </a:xfrm>
          <a:prstGeom prst="rect">
            <a:avLst/>
          </a:prstGeom>
          <a:noFill/>
        </p:spPr>
        <p:txBody>
          <a:bodyPr wrap="square">
            <a:spAutoFit/>
          </a:bodyPr>
          <a:lstStyle/>
          <a:p>
            <a:pPr algn="ctr"/>
            <a:r>
              <a:rPr sz="800" b="1" i="0">
                <a:solidFill>
                  <a:srgbClr val="58A6FF"/>
                </a:solidFill>
              </a:rPr>
              <a:t>🔗 form coalitions  (Trader ↔ Speculator)</a:t>
            </a:r>
          </a:p>
        </p:txBody>
      </p:sp>
      <p:cxnSp>
        <p:nvCxnSpPr>
          <p:cNvPr id="57" name="Connector 56"/>
          <p:cNvCxnSpPr/>
          <p:nvPr/>
        </p:nvCxnSpPr>
        <p:spPr>
          <a:xfrm>
            <a:off x="5330952" y="2093976"/>
            <a:ext cx="0" cy="3044952"/>
          </a:xfrm>
          <a:prstGeom prst="line">
            <a:avLst/>
          </a:prstGeom>
          <a:ln w="15240">
            <a:solidFill>
              <a:srgbClr val="3FB950"/>
            </a:solidFill>
            <a:prstDash val="dash"/>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065776" y="3493008"/>
            <a:ext cx="768096" cy="365760"/>
          </a:xfrm>
          <a:prstGeom prst="rect">
            <a:avLst/>
          </a:prstGeom>
          <a:noFill/>
        </p:spPr>
        <p:txBody>
          <a:bodyPr wrap="square">
            <a:spAutoFit/>
          </a:bodyPr>
          <a:lstStyle/>
          <a:p>
            <a:pPr algn="ctr"/>
            <a:r>
              <a:rPr sz="750" b="1" i="0">
                <a:solidFill>
                  <a:srgbClr val="3FB950"/>
                </a:solidFill>
              </a:rPr>
              <a:t>supply
chain</a:t>
            </a:r>
          </a:p>
        </p:txBody>
      </p:sp>
      <p:sp>
        <p:nvSpPr>
          <p:cNvPr id="59" name="Rectangle 58"/>
          <p:cNvSpPr/>
          <p:nvPr/>
        </p:nvSpPr>
        <p:spPr>
          <a:xfrm>
            <a:off x="201168" y="6455664"/>
            <a:ext cx="5961888" cy="329184"/>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10896" y="6519672"/>
            <a:ext cx="731520" cy="201168"/>
          </a:xfrm>
          <a:prstGeom prst="rect">
            <a:avLst/>
          </a:prstGeom>
          <a:noFill/>
        </p:spPr>
        <p:txBody>
          <a:bodyPr wrap="square">
            <a:spAutoFit/>
          </a:bodyPr>
          <a:lstStyle/>
          <a:p>
            <a:pPr algn="l"/>
            <a:r>
              <a:rPr sz="850" b="1" i="0">
                <a:solidFill>
                  <a:srgbClr val="58A6FF"/>
                </a:solidFill>
              </a:rPr>
              <a:t>Market State</a:t>
            </a:r>
          </a:p>
        </p:txBody>
      </p:sp>
      <p:sp>
        <p:nvSpPr>
          <p:cNvPr id="61" name="TextBox 60"/>
          <p:cNvSpPr txBox="1"/>
          <p:nvPr/>
        </p:nvSpPr>
        <p:spPr>
          <a:xfrm>
            <a:off x="1078992" y="6519672"/>
            <a:ext cx="274320" cy="201168"/>
          </a:xfrm>
          <a:prstGeom prst="rect">
            <a:avLst/>
          </a:prstGeom>
          <a:noFill/>
        </p:spPr>
        <p:txBody>
          <a:bodyPr wrap="square">
            <a:spAutoFit/>
          </a:bodyPr>
          <a:lstStyle/>
          <a:p>
            <a:pPr algn="l"/>
            <a:r>
              <a:rPr sz="800" b="0" i="0">
                <a:solidFill>
                  <a:srgbClr val="8B949E"/>
                </a:solidFill>
              </a:rPr>
              <a:t>→</a:t>
            </a:r>
          </a:p>
        </p:txBody>
      </p:sp>
      <p:sp>
        <p:nvSpPr>
          <p:cNvPr id="62" name="TextBox 61"/>
          <p:cNvSpPr txBox="1"/>
          <p:nvPr/>
        </p:nvSpPr>
        <p:spPr>
          <a:xfrm>
            <a:off x="1389888" y="6519672"/>
            <a:ext cx="731520" cy="201168"/>
          </a:xfrm>
          <a:prstGeom prst="rect">
            <a:avLst/>
          </a:prstGeom>
          <a:noFill/>
        </p:spPr>
        <p:txBody>
          <a:bodyPr wrap="square">
            <a:spAutoFit/>
          </a:bodyPr>
          <a:lstStyle/>
          <a:p>
            <a:pPr algn="l"/>
            <a:r>
              <a:rPr sz="850" b="1" i="0">
                <a:solidFill>
                  <a:srgbClr val="BC8CFF"/>
                </a:solidFill>
              </a:rPr>
              <a:t>Observe</a:t>
            </a:r>
          </a:p>
        </p:txBody>
      </p:sp>
      <p:sp>
        <p:nvSpPr>
          <p:cNvPr id="63" name="TextBox 62"/>
          <p:cNvSpPr txBox="1"/>
          <p:nvPr/>
        </p:nvSpPr>
        <p:spPr>
          <a:xfrm>
            <a:off x="2157984" y="6519672"/>
            <a:ext cx="274320" cy="201168"/>
          </a:xfrm>
          <a:prstGeom prst="rect">
            <a:avLst/>
          </a:prstGeom>
          <a:noFill/>
        </p:spPr>
        <p:txBody>
          <a:bodyPr wrap="square">
            <a:spAutoFit/>
          </a:bodyPr>
          <a:lstStyle/>
          <a:p>
            <a:pPr algn="l"/>
            <a:r>
              <a:rPr sz="800" b="0" i="0">
                <a:solidFill>
                  <a:srgbClr val="8B949E"/>
                </a:solidFill>
              </a:rPr>
              <a:t>→</a:t>
            </a:r>
          </a:p>
        </p:txBody>
      </p:sp>
      <p:sp>
        <p:nvSpPr>
          <p:cNvPr id="64" name="TextBox 63"/>
          <p:cNvSpPr txBox="1"/>
          <p:nvPr/>
        </p:nvSpPr>
        <p:spPr>
          <a:xfrm>
            <a:off x="2468880" y="6519672"/>
            <a:ext cx="731520" cy="201168"/>
          </a:xfrm>
          <a:prstGeom prst="rect">
            <a:avLst/>
          </a:prstGeom>
          <a:noFill/>
        </p:spPr>
        <p:txBody>
          <a:bodyPr wrap="square">
            <a:spAutoFit/>
          </a:bodyPr>
          <a:lstStyle/>
          <a:p>
            <a:pPr algn="l"/>
            <a:r>
              <a:rPr sz="850" b="1" i="0">
                <a:solidFill>
                  <a:srgbClr val="D29922"/>
                </a:solidFill>
              </a:rPr>
              <a:t>LLM Decides</a:t>
            </a:r>
          </a:p>
        </p:txBody>
      </p:sp>
      <p:sp>
        <p:nvSpPr>
          <p:cNvPr id="65" name="TextBox 64"/>
          <p:cNvSpPr txBox="1"/>
          <p:nvPr/>
        </p:nvSpPr>
        <p:spPr>
          <a:xfrm>
            <a:off x="3236976" y="6519672"/>
            <a:ext cx="274320" cy="201168"/>
          </a:xfrm>
          <a:prstGeom prst="rect">
            <a:avLst/>
          </a:prstGeom>
          <a:noFill/>
        </p:spPr>
        <p:txBody>
          <a:bodyPr wrap="square">
            <a:spAutoFit/>
          </a:bodyPr>
          <a:lstStyle/>
          <a:p>
            <a:pPr algn="l"/>
            <a:r>
              <a:rPr sz="800" b="0" i="0">
                <a:solidFill>
                  <a:srgbClr val="8B949E"/>
                </a:solidFill>
              </a:rPr>
              <a:t>→</a:t>
            </a:r>
          </a:p>
        </p:txBody>
      </p:sp>
      <p:sp>
        <p:nvSpPr>
          <p:cNvPr id="66" name="TextBox 65"/>
          <p:cNvSpPr txBox="1"/>
          <p:nvPr/>
        </p:nvSpPr>
        <p:spPr>
          <a:xfrm>
            <a:off x="3547872" y="6519672"/>
            <a:ext cx="731520" cy="201168"/>
          </a:xfrm>
          <a:prstGeom prst="rect">
            <a:avLst/>
          </a:prstGeom>
          <a:noFill/>
        </p:spPr>
        <p:txBody>
          <a:bodyPr wrap="square">
            <a:spAutoFit/>
          </a:bodyPr>
          <a:lstStyle/>
          <a:p>
            <a:pPr algn="l"/>
            <a:r>
              <a:rPr sz="850" b="1" i="0">
                <a:solidFill>
                  <a:srgbClr val="3FB950"/>
                </a:solidFill>
              </a:rPr>
              <a:t>JSON Action</a:t>
            </a:r>
          </a:p>
        </p:txBody>
      </p:sp>
      <p:sp>
        <p:nvSpPr>
          <p:cNvPr id="67" name="TextBox 66"/>
          <p:cNvSpPr txBox="1"/>
          <p:nvPr/>
        </p:nvSpPr>
        <p:spPr>
          <a:xfrm>
            <a:off x="4315968" y="6519672"/>
            <a:ext cx="274320" cy="201168"/>
          </a:xfrm>
          <a:prstGeom prst="rect">
            <a:avLst/>
          </a:prstGeom>
          <a:noFill/>
        </p:spPr>
        <p:txBody>
          <a:bodyPr wrap="square">
            <a:spAutoFit/>
          </a:bodyPr>
          <a:lstStyle/>
          <a:p>
            <a:pPr algn="l"/>
            <a:r>
              <a:rPr sz="800" b="0" i="0">
                <a:solidFill>
                  <a:srgbClr val="8B949E"/>
                </a:solidFill>
              </a:rPr>
              <a:t>→</a:t>
            </a:r>
          </a:p>
        </p:txBody>
      </p:sp>
      <p:sp>
        <p:nvSpPr>
          <p:cNvPr id="68" name="TextBox 67"/>
          <p:cNvSpPr txBox="1"/>
          <p:nvPr/>
        </p:nvSpPr>
        <p:spPr>
          <a:xfrm>
            <a:off x="4626864" y="6519672"/>
            <a:ext cx="731520" cy="201168"/>
          </a:xfrm>
          <a:prstGeom prst="rect">
            <a:avLst/>
          </a:prstGeom>
          <a:noFill/>
        </p:spPr>
        <p:txBody>
          <a:bodyPr wrap="square">
            <a:spAutoFit/>
          </a:bodyPr>
          <a:lstStyle/>
          <a:p>
            <a:pPr algn="l"/>
            <a:r>
              <a:rPr sz="850" b="1" i="0">
                <a:solidFill>
                  <a:srgbClr val="F85149"/>
                </a:solidFill>
              </a:rPr>
              <a:t>Reward</a:t>
            </a:r>
          </a:p>
        </p:txBody>
      </p:sp>
      <p:sp>
        <p:nvSpPr>
          <p:cNvPr id="69" name="TextBox 68"/>
          <p:cNvSpPr txBox="1"/>
          <p:nvPr/>
        </p:nvSpPr>
        <p:spPr>
          <a:xfrm>
            <a:off x="5394959" y="6519672"/>
            <a:ext cx="274320" cy="201168"/>
          </a:xfrm>
          <a:prstGeom prst="rect">
            <a:avLst/>
          </a:prstGeom>
          <a:noFill/>
        </p:spPr>
        <p:txBody>
          <a:bodyPr wrap="square">
            <a:spAutoFit/>
          </a:bodyPr>
          <a:lstStyle/>
          <a:p>
            <a:pPr algn="l"/>
            <a:r>
              <a:rPr sz="800" b="0" i="0">
                <a:solidFill>
                  <a:srgbClr val="58A6FF"/>
                </a:solidFill>
              </a:rPr>
              <a:t>↩ loop</a:t>
            </a:r>
          </a:p>
        </p:txBody>
      </p:sp>
      <p:sp>
        <p:nvSpPr>
          <p:cNvPr id="70" name="Rectangle 69"/>
          <p:cNvSpPr/>
          <p:nvPr/>
        </p:nvSpPr>
        <p:spPr>
          <a:xfrm>
            <a:off x="6528816" y="768096"/>
            <a:ext cx="5486400" cy="1737360"/>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0" y="841247"/>
            <a:ext cx="5230368" cy="201168"/>
          </a:xfrm>
          <a:prstGeom prst="rect">
            <a:avLst/>
          </a:prstGeom>
          <a:noFill/>
        </p:spPr>
        <p:txBody>
          <a:bodyPr wrap="square">
            <a:spAutoFit/>
          </a:bodyPr>
          <a:lstStyle/>
          <a:p>
            <a:pPr algn="l"/>
            <a:r>
              <a:rPr sz="750" b="1" i="0">
                <a:solidFill>
                  <a:srgbClr val="8B949E"/>
                </a:solidFill>
              </a:rPr>
              <a:t>FOUR PILLARS  —  why each dimension was built into MarketForge</a:t>
            </a:r>
          </a:p>
        </p:txBody>
      </p:sp>
      <p:sp>
        <p:nvSpPr>
          <p:cNvPr id="72" name="Rectangle 71"/>
          <p:cNvSpPr/>
          <p:nvPr/>
        </p:nvSpPr>
        <p:spPr>
          <a:xfrm>
            <a:off x="6675120" y="1115568"/>
            <a:ext cx="1207007" cy="1261872"/>
          </a:xfrm>
          <a:solidFill>
            <a:srgbClr val="238636"/>
          </a:solidFill>
          <a:ln w="10160">
            <a:solidFill>
              <a:srgbClr val="3FB95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748272" y="1170432"/>
            <a:ext cx="1097279" cy="256032"/>
          </a:xfrm>
          <a:prstGeom prst="rect">
            <a:avLst/>
          </a:prstGeom>
          <a:noFill/>
        </p:spPr>
        <p:txBody>
          <a:bodyPr wrap="square">
            <a:spAutoFit/>
          </a:bodyPr>
          <a:lstStyle/>
          <a:p>
            <a:pPr algn="l"/>
            <a:r>
              <a:rPr sz="1500" b="0" i="0">
                <a:solidFill>
                  <a:srgbClr val="E6EDF3"/>
                </a:solidFill>
              </a:rPr>
              <a:t>🤝</a:t>
            </a:r>
          </a:p>
        </p:txBody>
      </p:sp>
      <p:sp>
        <p:nvSpPr>
          <p:cNvPr id="74" name="TextBox 73"/>
          <p:cNvSpPr txBox="1"/>
          <p:nvPr/>
        </p:nvSpPr>
        <p:spPr>
          <a:xfrm>
            <a:off x="6748272" y="1408176"/>
            <a:ext cx="1097279" cy="219456"/>
          </a:xfrm>
          <a:prstGeom prst="rect">
            <a:avLst/>
          </a:prstGeom>
          <a:noFill/>
        </p:spPr>
        <p:txBody>
          <a:bodyPr wrap="square">
            <a:spAutoFit/>
          </a:bodyPr>
          <a:lstStyle/>
          <a:p>
            <a:pPr algn="l"/>
            <a:r>
              <a:rPr sz="950" b="1" i="0">
                <a:solidFill>
                  <a:srgbClr val="E6EDF3"/>
                </a:solidFill>
              </a:rPr>
              <a:t>Cooperation</a:t>
            </a:r>
          </a:p>
        </p:txBody>
      </p:sp>
      <p:sp>
        <p:nvSpPr>
          <p:cNvPr id="75" name="TextBox 74"/>
          <p:cNvSpPr txBox="1"/>
          <p:nvPr/>
        </p:nvSpPr>
        <p:spPr>
          <a:xfrm>
            <a:off x="6748272" y="1609344"/>
            <a:ext cx="1097279" cy="201168"/>
          </a:xfrm>
          <a:prstGeom prst="rect">
            <a:avLst/>
          </a:prstGeom>
          <a:noFill/>
        </p:spPr>
        <p:txBody>
          <a:bodyPr wrap="square">
            <a:spAutoFit/>
          </a:bodyPr>
          <a:lstStyle/>
          <a:p>
            <a:pPr algn="l"/>
            <a:r>
              <a:rPr sz="800" b="0" i="0">
                <a:solidFill>
                  <a:srgbClr val="3FB950"/>
                </a:solidFill>
              </a:rPr>
              <a:t>Supply chain formation</a:t>
            </a:r>
          </a:p>
        </p:txBody>
      </p:sp>
      <p:sp>
        <p:nvSpPr>
          <p:cNvPr id="76" name="TextBox 75"/>
          <p:cNvSpPr txBox="1"/>
          <p:nvPr/>
        </p:nvSpPr>
        <p:spPr>
          <a:xfrm>
            <a:off x="6748272" y="1792224"/>
            <a:ext cx="1097279" cy="475488"/>
          </a:xfrm>
          <a:prstGeom prst="rect">
            <a:avLst/>
          </a:prstGeom>
          <a:noFill/>
        </p:spPr>
        <p:txBody>
          <a:bodyPr wrap="square">
            <a:spAutoFit/>
          </a:bodyPr>
          <a:lstStyle/>
          <a:p>
            <a:pPr algn="l"/>
            <a:r>
              <a:rPr sz="780" b="0" i="1">
                <a:solidFill>
                  <a:srgbClr val="C9D1D9"/>
                </a:solidFill>
              </a:rPr>
              <a:t>No single agent can produce bread alone — forces agents to depend on each other.</a:t>
            </a:r>
          </a:p>
        </p:txBody>
      </p:sp>
      <p:sp>
        <p:nvSpPr>
          <p:cNvPr id="77" name="Rectangle 76"/>
          <p:cNvSpPr/>
          <p:nvPr/>
        </p:nvSpPr>
        <p:spPr>
          <a:xfrm>
            <a:off x="7991856" y="1115568"/>
            <a:ext cx="1207007" cy="1261872"/>
          </a:xfrm>
          <a:solidFill>
            <a:srgbClr val="DA3633"/>
          </a:solidFill>
          <a:ln w="10160">
            <a:solidFill>
              <a:srgbClr val="F85149"/>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065008" y="1170432"/>
            <a:ext cx="1097279" cy="256032"/>
          </a:xfrm>
          <a:prstGeom prst="rect">
            <a:avLst/>
          </a:prstGeom>
          <a:noFill/>
        </p:spPr>
        <p:txBody>
          <a:bodyPr wrap="square">
            <a:spAutoFit/>
          </a:bodyPr>
          <a:lstStyle/>
          <a:p>
            <a:pPr algn="l"/>
            <a:r>
              <a:rPr sz="1500" b="0" i="0">
                <a:solidFill>
                  <a:srgbClr val="E6EDF3"/>
                </a:solidFill>
              </a:rPr>
              <a:t>⚔️</a:t>
            </a:r>
          </a:p>
        </p:txBody>
      </p:sp>
      <p:sp>
        <p:nvSpPr>
          <p:cNvPr id="79" name="TextBox 78"/>
          <p:cNvSpPr txBox="1"/>
          <p:nvPr/>
        </p:nvSpPr>
        <p:spPr>
          <a:xfrm>
            <a:off x="8065008" y="1408176"/>
            <a:ext cx="1097279" cy="219456"/>
          </a:xfrm>
          <a:prstGeom prst="rect">
            <a:avLst/>
          </a:prstGeom>
          <a:noFill/>
        </p:spPr>
        <p:txBody>
          <a:bodyPr wrap="square">
            <a:spAutoFit/>
          </a:bodyPr>
          <a:lstStyle/>
          <a:p>
            <a:pPr algn="l"/>
            <a:r>
              <a:rPr sz="950" b="1" i="0">
                <a:solidFill>
                  <a:srgbClr val="E6EDF3"/>
                </a:solidFill>
              </a:rPr>
              <a:t>Competition</a:t>
            </a:r>
          </a:p>
        </p:txBody>
      </p:sp>
      <p:sp>
        <p:nvSpPr>
          <p:cNvPr id="80" name="TextBox 79"/>
          <p:cNvSpPr txBox="1"/>
          <p:nvPr/>
        </p:nvSpPr>
        <p:spPr>
          <a:xfrm>
            <a:off x="8065008" y="1609344"/>
            <a:ext cx="1097279" cy="201168"/>
          </a:xfrm>
          <a:prstGeom prst="rect">
            <a:avLst/>
          </a:prstGeom>
          <a:noFill/>
        </p:spPr>
        <p:txBody>
          <a:bodyPr wrap="square">
            <a:spAutoFit/>
          </a:bodyPr>
          <a:lstStyle/>
          <a:p>
            <a:pPr algn="l"/>
            <a:r>
              <a:rPr sz="800" b="0" i="0">
                <a:solidFill>
                  <a:srgbClr val="F85149"/>
                </a:solidFill>
              </a:rPr>
              <a:t>Continuous Double Auction</a:t>
            </a:r>
          </a:p>
        </p:txBody>
      </p:sp>
      <p:sp>
        <p:nvSpPr>
          <p:cNvPr id="81" name="TextBox 80"/>
          <p:cNvSpPr txBox="1"/>
          <p:nvPr/>
        </p:nvSpPr>
        <p:spPr>
          <a:xfrm>
            <a:off x="8065008" y="1792224"/>
            <a:ext cx="1097279" cy="475488"/>
          </a:xfrm>
          <a:prstGeom prst="rect">
            <a:avLst/>
          </a:prstGeom>
          <a:noFill/>
        </p:spPr>
        <p:txBody>
          <a:bodyPr wrap="square">
            <a:spAutoFit/>
          </a:bodyPr>
          <a:lstStyle/>
          <a:p>
            <a:pPr algn="l"/>
            <a:r>
              <a:rPr sz="780" b="0" i="1">
                <a:solidFill>
                  <a:srgbClr val="C9D1D9"/>
                </a:solidFill>
              </a:rPr>
              <a:t>Scarce resources create real price discovery and incentivise efficient trading.</a:t>
            </a:r>
          </a:p>
        </p:txBody>
      </p:sp>
      <p:sp>
        <p:nvSpPr>
          <p:cNvPr id="82" name="Rectangle 81"/>
          <p:cNvSpPr/>
          <p:nvPr/>
        </p:nvSpPr>
        <p:spPr>
          <a:xfrm>
            <a:off x="9308592" y="1115568"/>
            <a:ext cx="1207007" cy="1261872"/>
          </a:xfrm>
          <a:solidFill>
            <a:srgbClr val="1F6FEB"/>
          </a:solidFill>
          <a:ln w="10160">
            <a:solidFill>
              <a:srgbClr val="58A6FF"/>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381744" y="1170432"/>
            <a:ext cx="1097279" cy="256032"/>
          </a:xfrm>
          <a:prstGeom prst="rect">
            <a:avLst/>
          </a:prstGeom>
          <a:noFill/>
        </p:spPr>
        <p:txBody>
          <a:bodyPr wrap="square">
            <a:spAutoFit/>
          </a:bodyPr>
          <a:lstStyle/>
          <a:p>
            <a:pPr algn="l"/>
            <a:r>
              <a:rPr sz="1500" b="0" i="0">
                <a:solidFill>
                  <a:srgbClr val="E6EDF3"/>
                </a:solidFill>
              </a:rPr>
              <a:t>💬</a:t>
            </a:r>
          </a:p>
        </p:txBody>
      </p:sp>
      <p:sp>
        <p:nvSpPr>
          <p:cNvPr id="84" name="TextBox 83"/>
          <p:cNvSpPr txBox="1"/>
          <p:nvPr/>
        </p:nvSpPr>
        <p:spPr>
          <a:xfrm>
            <a:off x="9381744" y="1408176"/>
            <a:ext cx="1097279" cy="219456"/>
          </a:xfrm>
          <a:prstGeom prst="rect">
            <a:avLst/>
          </a:prstGeom>
          <a:noFill/>
        </p:spPr>
        <p:txBody>
          <a:bodyPr wrap="square">
            <a:spAutoFit/>
          </a:bodyPr>
          <a:lstStyle/>
          <a:p>
            <a:pPr algn="l"/>
            <a:r>
              <a:rPr sz="950" b="1" i="0">
                <a:solidFill>
                  <a:srgbClr val="E6EDF3"/>
                </a:solidFill>
              </a:rPr>
              <a:t>Negotiation</a:t>
            </a:r>
          </a:p>
        </p:txBody>
      </p:sp>
      <p:sp>
        <p:nvSpPr>
          <p:cNvPr id="85" name="TextBox 84"/>
          <p:cNvSpPr txBox="1"/>
          <p:nvPr/>
        </p:nvSpPr>
        <p:spPr>
          <a:xfrm>
            <a:off x="9381744" y="1609344"/>
            <a:ext cx="1097279" cy="201168"/>
          </a:xfrm>
          <a:prstGeom prst="rect">
            <a:avLst/>
          </a:prstGeom>
          <a:noFill/>
        </p:spPr>
        <p:txBody>
          <a:bodyPr wrap="square">
            <a:spAutoFit/>
          </a:bodyPr>
          <a:lstStyle/>
          <a:p>
            <a:pPr algn="l"/>
            <a:r>
              <a:rPr sz="800" b="0" i="0">
                <a:solidFill>
                  <a:srgbClr val="58A6FF"/>
                </a:solidFill>
              </a:rPr>
              <a:t>NL bilateral deals</a:t>
            </a:r>
          </a:p>
        </p:txBody>
      </p:sp>
      <p:sp>
        <p:nvSpPr>
          <p:cNvPr id="86" name="TextBox 85"/>
          <p:cNvSpPr txBox="1"/>
          <p:nvPr/>
        </p:nvSpPr>
        <p:spPr>
          <a:xfrm>
            <a:off x="9381744" y="1792224"/>
            <a:ext cx="1097279" cy="475488"/>
          </a:xfrm>
          <a:prstGeom prst="rect">
            <a:avLst/>
          </a:prstGeom>
          <a:noFill/>
        </p:spPr>
        <p:txBody>
          <a:bodyPr wrap="square">
            <a:spAutoFit/>
          </a:bodyPr>
          <a:lstStyle/>
          <a:p>
            <a:pPr algn="l"/>
            <a:r>
              <a:rPr sz="780" b="0" i="1">
                <a:solidFill>
                  <a:srgbClr val="C9D1D9"/>
                </a:solidFill>
              </a:rPr>
              <a:t>Agents propose counter-offers in plain text, teaching strategic communication.</a:t>
            </a:r>
          </a:p>
        </p:txBody>
      </p:sp>
      <p:sp>
        <p:nvSpPr>
          <p:cNvPr id="87" name="Rectangle 86"/>
          <p:cNvSpPr/>
          <p:nvPr/>
        </p:nvSpPr>
        <p:spPr>
          <a:xfrm>
            <a:off x="10625328" y="1115568"/>
            <a:ext cx="1207007" cy="1261872"/>
          </a:xfrm>
          <a:solidFill>
            <a:srgbClr val="6E40C9"/>
          </a:solidFill>
          <a:ln w="10160">
            <a:solidFill>
              <a:srgbClr val="BC8CFF"/>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698480" y="1170432"/>
            <a:ext cx="1097279" cy="256032"/>
          </a:xfrm>
          <a:prstGeom prst="rect">
            <a:avLst/>
          </a:prstGeom>
          <a:noFill/>
        </p:spPr>
        <p:txBody>
          <a:bodyPr wrap="square">
            <a:spAutoFit/>
          </a:bodyPr>
          <a:lstStyle/>
          <a:p>
            <a:pPr algn="l"/>
            <a:r>
              <a:rPr sz="1500" b="0" i="0">
                <a:solidFill>
                  <a:srgbClr val="E6EDF3"/>
                </a:solidFill>
              </a:rPr>
              <a:t>🔗</a:t>
            </a:r>
          </a:p>
        </p:txBody>
      </p:sp>
      <p:sp>
        <p:nvSpPr>
          <p:cNvPr id="89" name="TextBox 88"/>
          <p:cNvSpPr txBox="1"/>
          <p:nvPr/>
        </p:nvSpPr>
        <p:spPr>
          <a:xfrm>
            <a:off x="10698480" y="1408176"/>
            <a:ext cx="1097279" cy="219456"/>
          </a:xfrm>
          <a:prstGeom prst="rect">
            <a:avLst/>
          </a:prstGeom>
          <a:noFill/>
        </p:spPr>
        <p:txBody>
          <a:bodyPr wrap="square">
            <a:spAutoFit/>
          </a:bodyPr>
          <a:lstStyle/>
          <a:p>
            <a:pPr algn="l"/>
            <a:r>
              <a:rPr sz="950" b="1" i="0">
                <a:solidFill>
                  <a:srgbClr val="E6EDF3"/>
                </a:solidFill>
              </a:rPr>
              <a:t>Coalition</a:t>
            </a:r>
          </a:p>
        </p:txBody>
      </p:sp>
      <p:sp>
        <p:nvSpPr>
          <p:cNvPr id="90" name="TextBox 89"/>
          <p:cNvSpPr txBox="1"/>
          <p:nvPr/>
        </p:nvSpPr>
        <p:spPr>
          <a:xfrm>
            <a:off x="10698480" y="1609344"/>
            <a:ext cx="1097279" cy="201168"/>
          </a:xfrm>
          <a:prstGeom prst="rect">
            <a:avLst/>
          </a:prstGeom>
          <a:noFill/>
        </p:spPr>
        <p:txBody>
          <a:bodyPr wrap="square">
            <a:spAutoFit/>
          </a:bodyPr>
          <a:lstStyle/>
          <a:p>
            <a:pPr algn="l"/>
            <a:r>
              <a:rPr sz="800" b="0" i="0">
                <a:solidFill>
                  <a:srgbClr val="BC8CFF"/>
                </a:solidFill>
              </a:rPr>
              <a:t>Dynamic alliances</a:t>
            </a:r>
          </a:p>
        </p:txBody>
      </p:sp>
      <p:sp>
        <p:nvSpPr>
          <p:cNvPr id="91" name="TextBox 90"/>
          <p:cNvSpPr txBox="1"/>
          <p:nvPr/>
        </p:nvSpPr>
        <p:spPr>
          <a:xfrm>
            <a:off x="10698480" y="1792224"/>
            <a:ext cx="1097279" cy="475488"/>
          </a:xfrm>
          <a:prstGeom prst="rect">
            <a:avLst/>
          </a:prstGeom>
          <a:noFill/>
        </p:spPr>
        <p:txBody>
          <a:bodyPr wrap="square">
            <a:spAutoFit/>
          </a:bodyPr>
          <a:lstStyle/>
          <a:p>
            <a:pPr algn="l"/>
            <a:r>
              <a:rPr sz="780" b="0" i="1">
                <a:solidFill>
                  <a:srgbClr val="C9D1D9"/>
                </a:solidFill>
              </a:rPr>
              <a:t>Groups earn bulk discounts, but leaving hurts reputation — tests long-term thinking.</a:t>
            </a:r>
          </a:p>
        </p:txBody>
      </p:sp>
      <p:sp>
        <p:nvSpPr>
          <p:cNvPr id="92" name="Rectangle 91"/>
          <p:cNvSpPr/>
          <p:nvPr/>
        </p:nvSpPr>
        <p:spPr>
          <a:xfrm>
            <a:off x="6528816" y="2633472"/>
            <a:ext cx="5486400" cy="2377440"/>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675120" y="2706624"/>
            <a:ext cx="5230368" cy="201168"/>
          </a:xfrm>
          <a:prstGeom prst="rect">
            <a:avLst/>
          </a:prstGeom>
          <a:noFill/>
        </p:spPr>
        <p:txBody>
          <a:bodyPr wrap="square">
            <a:spAutoFit/>
          </a:bodyPr>
          <a:lstStyle/>
          <a:p>
            <a:pPr algn="l"/>
            <a:r>
              <a:rPr sz="750" b="1" i="0">
                <a:solidFill>
                  <a:srgbClr val="8B949E"/>
                </a:solidFill>
              </a:rPr>
              <a:t>PER-TURN AGENT LOOP  —  what happens inside each of the 6 turns per episode</a:t>
            </a:r>
          </a:p>
        </p:txBody>
      </p:sp>
      <p:sp>
        <p:nvSpPr>
          <p:cNvPr id="94" name="Oval 93"/>
          <p:cNvSpPr/>
          <p:nvPr/>
        </p:nvSpPr>
        <p:spPr>
          <a:xfrm>
            <a:off x="6665976" y="2999232"/>
            <a:ext cx="237744" cy="237744"/>
          </a:xfrm>
          <a:prstGeom prst="ellipse">
            <a:avLst/>
          </a:prstGeom>
          <a:solidFill>
            <a:srgbClr val="1F6FEB"/>
          </a:solidFill>
          <a:ln w="1524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665976" y="3035808"/>
            <a:ext cx="237744" cy="283464"/>
          </a:xfrm>
          <a:prstGeom prst="rect">
            <a:avLst/>
          </a:prstGeom>
          <a:noFill/>
        </p:spPr>
        <p:txBody>
          <a:bodyPr wrap="square">
            <a:spAutoFit/>
          </a:bodyPr>
          <a:lstStyle/>
          <a:p>
            <a:pPr algn="ctr"/>
            <a:r>
              <a:rPr sz="800" b="1" i="0">
                <a:solidFill>
                  <a:srgbClr val="58A6FF"/>
                </a:solidFill>
              </a:rPr>
              <a:t>1</a:t>
            </a:r>
          </a:p>
        </p:txBody>
      </p:sp>
      <p:cxnSp>
        <p:nvCxnSpPr>
          <p:cNvPr id="96" name="Connector 95"/>
          <p:cNvCxnSpPr/>
          <p:nvPr/>
        </p:nvCxnSpPr>
        <p:spPr>
          <a:xfrm>
            <a:off x="6784848" y="3236976"/>
            <a:ext cx="0" cy="155448"/>
          </a:xfrm>
          <a:prstGeom prst="line">
            <a:avLst/>
          </a:prstGeom>
          <a:ln w="10160">
            <a:solidFill>
              <a:srgbClr val="21262D"/>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7004304" y="2999232"/>
            <a:ext cx="4901184" cy="365760"/>
          </a:xfrm>
          <a:prstGeom prst="rect">
            <a:avLst/>
          </a:prstGeom>
          <a:noFill/>
        </p:spPr>
        <p:txBody>
          <a:bodyPr wrap="square">
            <a:spAutoFit/>
          </a:bodyPr>
          <a:lstStyle/>
          <a:p>
            <a:pPr algn="l"/>
            <a:r>
              <a:rPr sz="880" b="0" i="0">
                <a:solidFill>
                  <a:srgbClr val="C9D1D9"/>
                </a:solidFill>
              </a:rPr>
              <a:t>Observe — Agent receives its private view: cash, inventory, best bid/ask prices, current event, and any pending deal offers. Partial info means it must infer others' intentions — just like a real trader.</a:t>
            </a:r>
          </a:p>
        </p:txBody>
      </p:sp>
      <p:sp>
        <p:nvSpPr>
          <p:cNvPr id="98" name="Oval 97"/>
          <p:cNvSpPr/>
          <p:nvPr/>
        </p:nvSpPr>
        <p:spPr>
          <a:xfrm>
            <a:off x="6665976" y="3392424"/>
            <a:ext cx="237744" cy="237744"/>
          </a:xfrm>
          <a:prstGeom prst="ellipse">
            <a:avLst/>
          </a:prstGeom>
          <a:solidFill>
            <a:srgbClr val="6E40C9"/>
          </a:solidFill>
          <a:ln w="15240">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665976" y="3429000"/>
            <a:ext cx="237744" cy="283464"/>
          </a:xfrm>
          <a:prstGeom prst="rect">
            <a:avLst/>
          </a:prstGeom>
          <a:noFill/>
        </p:spPr>
        <p:txBody>
          <a:bodyPr wrap="square">
            <a:spAutoFit/>
          </a:bodyPr>
          <a:lstStyle/>
          <a:p>
            <a:pPr algn="ctr"/>
            <a:r>
              <a:rPr sz="800" b="1" i="0">
                <a:solidFill>
                  <a:srgbClr val="BC8CFF"/>
                </a:solidFill>
              </a:rPr>
              <a:t>2</a:t>
            </a:r>
          </a:p>
        </p:txBody>
      </p:sp>
      <p:cxnSp>
        <p:nvCxnSpPr>
          <p:cNvPr id="100" name="Connector 99"/>
          <p:cNvCxnSpPr/>
          <p:nvPr/>
        </p:nvCxnSpPr>
        <p:spPr>
          <a:xfrm>
            <a:off x="6784848" y="3630168"/>
            <a:ext cx="0" cy="155447"/>
          </a:xfrm>
          <a:prstGeom prst="line">
            <a:avLst/>
          </a:prstGeom>
          <a:ln w="10160">
            <a:solidFill>
              <a:srgbClr val="21262D"/>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004304" y="3392424"/>
            <a:ext cx="4901184" cy="365760"/>
          </a:xfrm>
          <a:prstGeom prst="rect">
            <a:avLst/>
          </a:prstGeom>
          <a:noFill/>
        </p:spPr>
        <p:txBody>
          <a:bodyPr wrap="square">
            <a:spAutoFit/>
          </a:bodyPr>
          <a:lstStyle/>
          <a:p>
            <a:pPr algn="l"/>
            <a:r>
              <a:rPr sz="880" b="0" i="0">
                <a:solidFill>
                  <a:srgbClr val="C9D1D9"/>
                </a:solidFill>
              </a:rPr>
              <a:t>Decide — The LLM processes the observation through the system prompt and generates one JSON action. Using chat history from prior turns lets it reason across multiple rounds consistently.</a:t>
            </a:r>
          </a:p>
        </p:txBody>
      </p:sp>
      <p:sp>
        <p:nvSpPr>
          <p:cNvPr id="102" name="Oval 101"/>
          <p:cNvSpPr/>
          <p:nvPr/>
        </p:nvSpPr>
        <p:spPr>
          <a:xfrm>
            <a:off x="6665976" y="3785615"/>
            <a:ext cx="237744" cy="237744"/>
          </a:xfrm>
          <a:prstGeom prst="ellipse">
            <a:avLst/>
          </a:prstGeom>
          <a:solidFill>
            <a:srgbClr val="9E6000"/>
          </a:solidFill>
          <a:ln w="1524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665976" y="3822191"/>
            <a:ext cx="237744" cy="283464"/>
          </a:xfrm>
          <a:prstGeom prst="rect">
            <a:avLst/>
          </a:prstGeom>
          <a:noFill/>
        </p:spPr>
        <p:txBody>
          <a:bodyPr wrap="square">
            <a:spAutoFit/>
          </a:bodyPr>
          <a:lstStyle/>
          <a:p>
            <a:pPr algn="ctr"/>
            <a:r>
              <a:rPr sz="800" b="1" i="0">
                <a:solidFill>
                  <a:srgbClr val="D29922"/>
                </a:solidFill>
              </a:rPr>
              <a:t>3</a:t>
            </a:r>
          </a:p>
        </p:txBody>
      </p:sp>
      <p:cxnSp>
        <p:nvCxnSpPr>
          <p:cNvPr id="104" name="Connector 103"/>
          <p:cNvCxnSpPr/>
          <p:nvPr/>
        </p:nvCxnSpPr>
        <p:spPr>
          <a:xfrm>
            <a:off x="6784848" y="4023359"/>
            <a:ext cx="0" cy="155448"/>
          </a:xfrm>
          <a:prstGeom prst="line">
            <a:avLst/>
          </a:prstGeom>
          <a:ln w="10160">
            <a:solidFill>
              <a:srgbClr val="21262D"/>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7004304" y="3785615"/>
            <a:ext cx="4901184" cy="365760"/>
          </a:xfrm>
          <a:prstGeom prst="rect">
            <a:avLst/>
          </a:prstGeom>
          <a:noFill/>
        </p:spPr>
        <p:txBody>
          <a:bodyPr wrap="square">
            <a:spAutoFit/>
          </a:bodyPr>
          <a:lstStyle/>
          <a:p>
            <a:pPr algn="l"/>
            <a:r>
              <a:rPr sz="880" b="0" i="0">
                <a:solidFill>
                  <a:srgbClr val="C9D1D9"/>
                </a:solidFill>
              </a:rPr>
              <a:t>Act — The action is validated by the market engine. A buy order hits the order book; a negotiate message reaches the target agent; a coalition proposal is recorded with its reputation stake.</a:t>
            </a:r>
          </a:p>
        </p:txBody>
      </p:sp>
      <p:sp>
        <p:nvSpPr>
          <p:cNvPr id="106" name="Oval 105"/>
          <p:cNvSpPr/>
          <p:nvPr/>
        </p:nvSpPr>
        <p:spPr>
          <a:xfrm>
            <a:off x="6665976" y="4178808"/>
            <a:ext cx="237744" cy="237744"/>
          </a:xfrm>
          <a:prstGeom prst="ellipse">
            <a:avLst/>
          </a:prstGeom>
          <a:solidFill>
            <a:srgbClr val="238636"/>
          </a:solidFill>
          <a:ln w="1524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665976" y="4215384"/>
            <a:ext cx="237744" cy="283464"/>
          </a:xfrm>
          <a:prstGeom prst="rect">
            <a:avLst/>
          </a:prstGeom>
          <a:noFill/>
        </p:spPr>
        <p:txBody>
          <a:bodyPr wrap="square">
            <a:spAutoFit/>
          </a:bodyPr>
          <a:lstStyle/>
          <a:p>
            <a:pPr algn="ctr"/>
            <a:r>
              <a:rPr sz="800" b="1" i="0">
                <a:solidFill>
                  <a:srgbClr val="3FB950"/>
                </a:solidFill>
              </a:rPr>
              <a:t>4</a:t>
            </a:r>
          </a:p>
        </p:txBody>
      </p:sp>
      <p:cxnSp>
        <p:nvCxnSpPr>
          <p:cNvPr id="108" name="Connector 107"/>
          <p:cNvCxnSpPr/>
          <p:nvPr/>
        </p:nvCxnSpPr>
        <p:spPr>
          <a:xfrm>
            <a:off x="6784848" y="4416552"/>
            <a:ext cx="0" cy="155448"/>
          </a:xfrm>
          <a:prstGeom prst="line">
            <a:avLst/>
          </a:prstGeom>
          <a:ln w="10160">
            <a:solidFill>
              <a:srgbClr val="21262D"/>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7004304" y="4178808"/>
            <a:ext cx="4901184" cy="365760"/>
          </a:xfrm>
          <a:prstGeom prst="rect">
            <a:avLst/>
          </a:prstGeom>
          <a:noFill/>
        </p:spPr>
        <p:txBody>
          <a:bodyPr wrap="square">
            <a:spAutoFit/>
          </a:bodyPr>
          <a:lstStyle/>
          <a:p>
            <a:pPr algn="l"/>
            <a:r>
              <a:rPr sz="880" b="0" i="0">
                <a:solidFill>
                  <a:srgbClr val="C9D1D9"/>
                </a:solidFill>
              </a:rPr>
              <a:t>Reward — Three reward signals are computed immediately (profit, format accuracy, strategic depth) and stored. At episode end all turns are aggregated and fed to the GRPO optimiser as training signal.</a:t>
            </a:r>
          </a:p>
        </p:txBody>
      </p:sp>
      <p:sp>
        <p:nvSpPr>
          <p:cNvPr id="110" name="Oval 109"/>
          <p:cNvSpPr/>
          <p:nvPr/>
        </p:nvSpPr>
        <p:spPr>
          <a:xfrm>
            <a:off x="6665976" y="4572000"/>
            <a:ext cx="237744" cy="237744"/>
          </a:xfrm>
          <a:prstGeom prst="ellipse">
            <a:avLst/>
          </a:prstGeom>
          <a:solidFill>
            <a:srgbClr val="DA3633"/>
          </a:solidFill>
          <a:ln w="15240">
            <a:solidFill>
              <a:srgbClr val="F851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665976" y="4608576"/>
            <a:ext cx="237744" cy="283464"/>
          </a:xfrm>
          <a:prstGeom prst="rect">
            <a:avLst/>
          </a:prstGeom>
          <a:noFill/>
        </p:spPr>
        <p:txBody>
          <a:bodyPr wrap="square">
            <a:spAutoFit/>
          </a:bodyPr>
          <a:lstStyle/>
          <a:p>
            <a:pPr algn="ctr"/>
            <a:r>
              <a:rPr sz="800" b="1" i="0">
                <a:solidFill>
                  <a:srgbClr val="F85149"/>
                </a:solidFill>
              </a:rPr>
              <a:t>5</a:t>
            </a:r>
          </a:p>
        </p:txBody>
      </p:sp>
      <p:sp>
        <p:nvSpPr>
          <p:cNvPr id="112" name="TextBox 111"/>
          <p:cNvSpPr txBox="1"/>
          <p:nvPr/>
        </p:nvSpPr>
        <p:spPr>
          <a:xfrm>
            <a:off x="7004304" y="4572000"/>
            <a:ext cx="4901184" cy="365760"/>
          </a:xfrm>
          <a:prstGeom prst="rect">
            <a:avLst/>
          </a:prstGeom>
          <a:noFill/>
        </p:spPr>
        <p:txBody>
          <a:bodyPr wrap="square">
            <a:spAutoFit/>
          </a:bodyPr>
          <a:lstStyle/>
          <a:p>
            <a:pPr algn="l"/>
            <a:r>
              <a:rPr sz="880" b="0" i="0">
                <a:solidFill>
                  <a:srgbClr val="C9D1D9"/>
                </a:solidFill>
              </a:rPr>
              <a:t>Update Context — Environment feedback (reward value + next observation prompt) is appended as masked tokens (env_mask=0 so the model is not trained to reproduce env text), keeping the history clean.</a:t>
            </a:r>
          </a:p>
        </p:txBody>
      </p:sp>
      <p:sp>
        <p:nvSpPr>
          <p:cNvPr id="113" name="Rectangle 112"/>
          <p:cNvSpPr/>
          <p:nvPr/>
        </p:nvSpPr>
        <p:spPr>
          <a:xfrm>
            <a:off x="6528816" y="5138928"/>
            <a:ext cx="5486400" cy="1426464"/>
          </a:xfrm>
          <a:solidFill>
            <a:srgbClr val="161B22"/>
          </a:solidFill>
          <a:ln w="6350">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675120" y="5212080"/>
            <a:ext cx="5230368" cy="201168"/>
          </a:xfrm>
          <a:prstGeom prst="rect">
            <a:avLst/>
          </a:prstGeom>
          <a:noFill/>
        </p:spPr>
        <p:txBody>
          <a:bodyPr wrap="square">
            <a:spAutoFit/>
          </a:bodyPr>
          <a:lstStyle/>
          <a:p>
            <a:pPr algn="l"/>
            <a:r>
              <a:rPr sz="750" b="1" i="0">
                <a:solidFill>
                  <a:srgbClr val="8B949E"/>
                </a:solidFill>
              </a:rPr>
              <a:t>THEORY-OF-MIND PROGRESSION  —  higher levels produce smarter, more rewarded behaviour</a:t>
            </a:r>
          </a:p>
        </p:txBody>
      </p:sp>
      <p:sp>
        <p:nvSpPr>
          <p:cNvPr id="115" name="Rectangle 114"/>
          <p:cNvSpPr/>
          <p:nvPr/>
        </p:nvSpPr>
        <p:spPr>
          <a:xfrm>
            <a:off x="6675120" y="5468112"/>
            <a:ext cx="1645919" cy="987552"/>
          </a:xfrm>
          <a:solidFill>
            <a:srgbClr val="238636"/>
          </a:solidFill>
          <a:ln w="10160">
            <a:solidFill>
              <a:srgbClr val="3FB950"/>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748272" y="5522976"/>
            <a:ext cx="1536191" cy="201168"/>
          </a:xfrm>
          <a:prstGeom prst="rect">
            <a:avLst/>
          </a:prstGeom>
          <a:noFill/>
        </p:spPr>
        <p:txBody>
          <a:bodyPr wrap="square">
            <a:spAutoFit/>
          </a:bodyPr>
          <a:lstStyle/>
          <a:p>
            <a:pPr algn="l"/>
            <a:r>
              <a:rPr sz="750" b="1" i="0">
                <a:solidFill>
                  <a:srgbClr val="3FB950"/>
                </a:solidFill>
              </a:rPr>
              <a:t>Level 0</a:t>
            </a:r>
          </a:p>
        </p:txBody>
      </p:sp>
      <p:sp>
        <p:nvSpPr>
          <p:cNvPr id="117" name="TextBox 116"/>
          <p:cNvSpPr txBox="1"/>
          <p:nvPr/>
        </p:nvSpPr>
        <p:spPr>
          <a:xfrm>
            <a:off x="6748272" y="5705856"/>
            <a:ext cx="1536191" cy="219456"/>
          </a:xfrm>
          <a:prstGeom prst="rect">
            <a:avLst/>
          </a:prstGeom>
          <a:noFill/>
        </p:spPr>
        <p:txBody>
          <a:bodyPr wrap="square">
            <a:spAutoFit/>
          </a:bodyPr>
          <a:lstStyle/>
          <a:p>
            <a:pPr algn="l"/>
            <a:r>
              <a:rPr sz="1000" b="1" i="0">
                <a:solidFill>
                  <a:srgbClr val="E6EDF3"/>
                </a:solidFill>
              </a:rPr>
              <a:t>Reactive</a:t>
            </a:r>
          </a:p>
        </p:txBody>
      </p:sp>
      <p:sp>
        <p:nvSpPr>
          <p:cNvPr id="118" name="TextBox 117"/>
          <p:cNvSpPr txBox="1"/>
          <p:nvPr/>
        </p:nvSpPr>
        <p:spPr>
          <a:xfrm>
            <a:off x="6748272" y="5925312"/>
            <a:ext cx="1536191" cy="457200"/>
          </a:xfrm>
          <a:prstGeom prst="rect">
            <a:avLst/>
          </a:prstGeom>
          <a:noFill/>
        </p:spPr>
        <p:txBody>
          <a:bodyPr wrap="square">
            <a:spAutoFit/>
          </a:bodyPr>
          <a:lstStyle/>
          <a:p>
            <a:pPr algn="l"/>
            <a:r>
              <a:rPr sz="800" b="0" i="1">
                <a:solidFill>
                  <a:srgbClr val="C9D1D9"/>
                </a:solidFill>
              </a:rPr>
              <a:t>Acts on own state only (buy/sell/pass). No awareness of other agents. Baseline behaviour — easy to implement but leaves strategic reward on the table.</a:t>
            </a:r>
          </a:p>
        </p:txBody>
      </p:sp>
      <p:sp>
        <p:nvSpPr>
          <p:cNvPr id="119" name="Rectangle 118"/>
          <p:cNvSpPr/>
          <p:nvPr/>
        </p:nvSpPr>
        <p:spPr>
          <a:xfrm>
            <a:off x="8430767" y="5468112"/>
            <a:ext cx="1645919" cy="987552"/>
          </a:xfrm>
          <a:solidFill>
            <a:srgbClr val="1F6FEB"/>
          </a:solidFill>
          <a:ln w="10160">
            <a:solidFill>
              <a:srgbClr val="58A6FF"/>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503919" y="5522976"/>
            <a:ext cx="1536191" cy="201168"/>
          </a:xfrm>
          <a:prstGeom prst="rect">
            <a:avLst/>
          </a:prstGeom>
          <a:noFill/>
        </p:spPr>
        <p:txBody>
          <a:bodyPr wrap="square">
            <a:spAutoFit/>
          </a:bodyPr>
          <a:lstStyle/>
          <a:p>
            <a:pPr algn="l"/>
            <a:r>
              <a:rPr sz="750" b="1" i="0">
                <a:solidFill>
                  <a:srgbClr val="58A6FF"/>
                </a:solidFill>
              </a:rPr>
              <a:t>Level 1</a:t>
            </a:r>
          </a:p>
        </p:txBody>
      </p:sp>
      <p:sp>
        <p:nvSpPr>
          <p:cNvPr id="121" name="TextBox 120"/>
          <p:cNvSpPr txBox="1"/>
          <p:nvPr/>
        </p:nvSpPr>
        <p:spPr>
          <a:xfrm>
            <a:off x="8503919" y="5705856"/>
            <a:ext cx="1536191" cy="219456"/>
          </a:xfrm>
          <a:prstGeom prst="rect">
            <a:avLst/>
          </a:prstGeom>
          <a:noFill/>
        </p:spPr>
        <p:txBody>
          <a:bodyPr wrap="square">
            <a:spAutoFit/>
          </a:bodyPr>
          <a:lstStyle/>
          <a:p>
            <a:pPr algn="l"/>
            <a:r>
              <a:rPr sz="1000" b="1" i="0">
                <a:solidFill>
                  <a:srgbClr val="E6EDF3"/>
                </a:solidFill>
              </a:rPr>
              <a:t>Predictive</a:t>
            </a:r>
          </a:p>
        </p:txBody>
      </p:sp>
      <p:sp>
        <p:nvSpPr>
          <p:cNvPr id="122" name="TextBox 121"/>
          <p:cNvSpPr txBox="1"/>
          <p:nvPr/>
        </p:nvSpPr>
        <p:spPr>
          <a:xfrm>
            <a:off x="8503919" y="5925312"/>
            <a:ext cx="1536191" cy="457200"/>
          </a:xfrm>
          <a:prstGeom prst="rect">
            <a:avLst/>
          </a:prstGeom>
          <a:noFill/>
        </p:spPr>
        <p:txBody>
          <a:bodyPr wrap="square">
            <a:spAutoFit/>
          </a:bodyPr>
          <a:lstStyle/>
          <a:p>
            <a:pPr algn="l"/>
            <a:r>
              <a:rPr sz="800" b="0" i="1">
                <a:solidFill>
                  <a:srgbClr val="C9D1D9"/>
                </a:solidFill>
              </a:rPr>
              <a:t>Models what other agents are likely to do based on their roles and past actions. Enables profitable negotiations by anticipating counter-offers.</a:t>
            </a:r>
          </a:p>
        </p:txBody>
      </p:sp>
      <p:sp>
        <p:nvSpPr>
          <p:cNvPr id="123" name="Rectangle 122"/>
          <p:cNvSpPr/>
          <p:nvPr/>
        </p:nvSpPr>
        <p:spPr>
          <a:xfrm>
            <a:off x="10186416" y="5468112"/>
            <a:ext cx="1645919" cy="987552"/>
          </a:xfrm>
          <a:solidFill>
            <a:srgbClr val="6E40C9"/>
          </a:solidFill>
          <a:ln w="10160">
            <a:solidFill>
              <a:srgbClr val="BC8CFF"/>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259568" y="5522976"/>
            <a:ext cx="1536191" cy="201168"/>
          </a:xfrm>
          <a:prstGeom prst="rect">
            <a:avLst/>
          </a:prstGeom>
          <a:noFill/>
        </p:spPr>
        <p:txBody>
          <a:bodyPr wrap="square">
            <a:spAutoFit/>
          </a:bodyPr>
          <a:lstStyle/>
          <a:p>
            <a:pPr algn="l"/>
            <a:r>
              <a:rPr sz="750" b="1" i="0">
                <a:solidFill>
                  <a:srgbClr val="BC8CFF"/>
                </a:solidFill>
              </a:rPr>
              <a:t>Level 2</a:t>
            </a:r>
          </a:p>
        </p:txBody>
      </p:sp>
      <p:sp>
        <p:nvSpPr>
          <p:cNvPr id="125" name="TextBox 124"/>
          <p:cNvSpPr txBox="1"/>
          <p:nvPr/>
        </p:nvSpPr>
        <p:spPr>
          <a:xfrm>
            <a:off x="10259568" y="5705856"/>
            <a:ext cx="1536191" cy="219456"/>
          </a:xfrm>
          <a:prstGeom prst="rect">
            <a:avLst/>
          </a:prstGeom>
          <a:noFill/>
        </p:spPr>
        <p:txBody>
          <a:bodyPr wrap="square">
            <a:spAutoFit/>
          </a:bodyPr>
          <a:lstStyle/>
          <a:p>
            <a:pPr algn="l"/>
            <a:r>
              <a:rPr sz="1000" b="1" i="0">
                <a:solidFill>
                  <a:srgbClr val="E6EDF3"/>
                </a:solidFill>
              </a:rPr>
              <a:t>Recursive</a:t>
            </a:r>
          </a:p>
        </p:txBody>
      </p:sp>
      <p:sp>
        <p:nvSpPr>
          <p:cNvPr id="126" name="TextBox 125"/>
          <p:cNvSpPr txBox="1"/>
          <p:nvPr/>
        </p:nvSpPr>
        <p:spPr>
          <a:xfrm>
            <a:off x="10259568" y="5925312"/>
            <a:ext cx="1536191" cy="457200"/>
          </a:xfrm>
          <a:prstGeom prst="rect">
            <a:avLst/>
          </a:prstGeom>
          <a:noFill/>
        </p:spPr>
        <p:txBody>
          <a:bodyPr wrap="square">
            <a:spAutoFit/>
          </a:bodyPr>
          <a:lstStyle/>
          <a:p>
            <a:pPr algn="l"/>
            <a:r>
              <a:rPr sz="800" b="0" i="1">
                <a:solidFill>
                  <a:srgbClr val="C9D1D9"/>
                </a:solidFill>
              </a:rPr>
              <a:t>Models what others believe about you. Builds reputation strategically, times coalition exits to minimise reputation loss, and bluffs in negotiations.</a:t>
            </a:r>
          </a:p>
        </p:txBody>
      </p:sp>
      <p:sp>
        <p:nvSpPr>
          <p:cNvPr id="127" name="Rectangle 126"/>
          <p:cNvSpPr/>
          <p:nvPr/>
        </p:nvSpPr>
        <p:spPr>
          <a:xfrm>
            <a:off x="0" y="6693408"/>
            <a:ext cx="12188952" cy="18288"/>
          </a:xfrm>
          <a:solidFill>
            <a:srgbClr val="21262D"/>
          </a:solidFill>
          <a:ln>
            <a:solidFill>
              <a:srgbClr val="21262D"/>
            </a:solidFill>
          </a:ln>
          <a:prstGeom prst="roundRect">
            <a:avLst>
              <a:gd name="adj" fmla="val 25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82880" y="6711696"/>
            <a:ext cx="11887200" cy="164592"/>
          </a:xfrm>
          <a:prstGeom prst="rect">
            <a:avLst/>
          </a:prstGeom>
          <a:noFill/>
        </p:spPr>
        <p:txBody>
          <a:bodyPr wrap="square">
            <a:spAutoFit/>
          </a:bodyPr>
          <a:lstStyle/>
          <a:p>
            <a:pPr algn="ctr"/>
            <a:r>
              <a:rPr sz="750" b="0" i="0">
                <a:solidFill>
                  <a:srgbClr val="484F58"/>
                </a:solidFill>
              </a:rPr>
              <a:t>Multi-Agent MarketForge  ·  OpenEnv Hackathon  ·  kenmandal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